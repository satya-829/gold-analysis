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7" r:id="rId2"/>
    <p:sldId id="258" r:id="rId3"/>
    <p:sldId id="259" r:id="rId4"/>
    <p:sldId id="260" r:id="rId5"/>
    <p:sldId id="261" r:id="rId6"/>
    <p:sldId id="262" r:id="rId7"/>
    <p:sldId id="263" r:id="rId8"/>
    <p:sldId id="264" r:id="rId9"/>
    <p:sldId id="266" r:id="rId10"/>
    <p:sldId id="265" r:id="rId11"/>
  </p:sldIdLst>
  <p:sldSz cx="7559675" cy="106918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8" userDrawn="1">
          <p15:clr>
            <a:srgbClr val="A4A3A4"/>
          </p15:clr>
        </p15:guide>
        <p15:guide id="2" pos="23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A017"/>
    <a:srgbClr val="0A0F1A"/>
    <a:srgbClr val="142135"/>
    <a:srgbClr val="444444"/>
    <a:srgbClr val="888888"/>
    <a:srgbClr val="CCCCCC"/>
    <a:srgbClr val="555555"/>
    <a:srgbClr val="333333"/>
    <a:srgbClr val="D6A300"/>
    <a:srgbClr val="F5F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58" d="100"/>
          <a:sy n="58" d="100"/>
        </p:scale>
        <p:origin x="2211" y="60"/>
      </p:cViewPr>
      <p:guideLst>
        <p:guide orient="horz" pos="3368"/>
        <p:guide pos="23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F198D7-5087-475C-B7C6-101CAD0A3D68}" type="datetimeFigureOut">
              <a:rPr lang="en-IN" smtClean="0"/>
              <a:t>2026-07-10</a:t>
            </a:fld>
            <a:endParaRPr lang="en-IN"/>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D236F4-EB37-4040-B889-EE00528E91EB}" type="slidenum">
              <a:rPr lang="en-IN" smtClean="0"/>
              <a:t>‹#›</a:t>
            </a:fld>
            <a:endParaRPr lang="en-IN"/>
          </a:p>
        </p:txBody>
      </p:sp>
    </p:spTree>
    <p:extLst>
      <p:ext uri="{BB962C8B-B14F-4D97-AF65-F5344CB8AC3E}">
        <p14:creationId xmlns:p14="http://schemas.microsoft.com/office/powerpoint/2010/main" val="4068364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66976" y="1749795"/>
            <a:ext cx="6425724" cy="3722335"/>
          </a:xfrm>
        </p:spPr>
        <p:txBody>
          <a:bodyPr anchor="b"/>
          <a:lstStyle>
            <a:lvl1pPr algn="ctr">
              <a:defRPr sz="4960"/>
            </a:lvl1pPr>
          </a:lstStyle>
          <a:p>
            <a:r>
              <a:rPr lang="en-US"/>
              <a:t>Click to edit Master title style</a:t>
            </a:r>
            <a:endParaRPr lang="en-US" dirty="0"/>
          </a:p>
        </p:txBody>
      </p:sp>
      <p:sp>
        <p:nvSpPr>
          <p:cNvPr id="3" name="Subtitle 2"/>
          <p:cNvSpPr>
            <a:spLocks noGrp="1"/>
          </p:cNvSpPr>
          <p:nvPr>
            <p:ph type="subTitle" idx="1"/>
          </p:nvPr>
        </p:nvSpPr>
        <p:spPr>
          <a:xfrm>
            <a:off x="944960" y="5615678"/>
            <a:ext cx="5669756" cy="2581379"/>
          </a:xfrm>
        </p:spPr>
        <p:txBody>
          <a:bodyPr/>
          <a:lstStyle>
            <a:lvl1pPr marL="0" indent="0" algn="ctr">
              <a:buNone/>
              <a:defRPr sz="1984"/>
            </a:lvl1pPr>
            <a:lvl2pPr marL="377967" indent="0" algn="ctr">
              <a:buNone/>
              <a:defRPr sz="1653"/>
            </a:lvl2pPr>
            <a:lvl3pPr marL="755934" indent="0" algn="ctr">
              <a:buNone/>
              <a:defRPr sz="1488"/>
            </a:lvl3pPr>
            <a:lvl4pPr marL="1133902" indent="0" algn="ctr">
              <a:buNone/>
              <a:defRPr sz="1323"/>
            </a:lvl4pPr>
            <a:lvl5pPr marL="1511869" indent="0" algn="ctr">
              <a:buNone/>
              <a:defRPr sz="1323"/>
            </a:lvl5pPr>
            <a:lvl6pPr marL="1889836" indent="0" algn="ctr">
              <a:buNone/>
              <a:defRPr sz="1323"/>
            </a:lvl6pPr>
            <a:lvl7pPr marL="2267803" indent="0" algn="ctr">
              <a:buNone/>
              <a:defRPr sz="1323"/>
            </a:lvl7pPr>
            <a:lvl8pPr marL="2645771" indent="0" algn="ctr">
              <a:buNone/>
              <a:defRPr sz="1323"/>
            </a:lvl8pPr>
            <a:lvl9pPr marL="3023738" indent="0" algn="ctr">
              <a:buNone/>
              <a:defRPr sz="1323"/>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16D356C-5C99-4417-AA48-1EE195865F48}" type="datetimeFigureOut">
              <a:rPr lang="en-IN" smtClean="0"/>
              <a:t>2026-07-10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B13457-73C8-4680-A13A-4E6603DA28D5}" type="slidenum">
              <a:rPr lang="en-IN" smtClean="0"/>
              <a:t>‹#›</a:t>
            </a:fld>
            <a:endParaRPr lang="en-IN"/>
          </a:p>
        </p:txBody>
      </p:sp>
      <p:sp>
        <p:nvSpPr>
          <p:cNvPr id="7" name="Do not remove" hidden="1">
            <a:extLst>
              <a:ext uri="{FF2B5EF4-FFF2-40B4-BE49-F238E27FC236}">
                <a16:creationId xmlns:a16="http://schemas.microsoft.com/office/drawing/2014/main" id="{4854A89C-11D6-7C68-67D8-279EA8DF5208}"/>
              </a:ext>
            </a:extLst>
          </p:cNvPr>
          <p:cNvSpPr/>
          <p:nvPr userDrawn="1">
            <p:custDataLst>
              <p:tags r:id="rId1"/>
            </p:custDataLst>
          </p:nvPr>
        </p:nvSpPr>
        <p:spPr>
          <a:xfrm>
            <a:off x="2" y="0"/>
            <a:ext cx="7875" cy="198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56698" tIns="28349" rIns="56698" bIns="28349" numCol="1" spcCol="0" rtlCol="0" fromWordArt="0" anchor="ctr" anchorCtr="0" forceAA="0" compatLnSpc="1">
            <a:prstTxWarp prst="textNoShape">
              <a:avLst/>
            </a:prstTxWarp>
            <a:noAutofit/>
          </a:bodyPr>
          <a:lstStyle/>
          <a:p>
            <a:pPr algn="ctr"/>
            <a:endParaRPr lang="en-IN" sz="1116"/>
          </a:p>
        </p:txBody>
      </p:sp>
    </p:spTree>
    <p:extLst>
      <p:ext uri="{BB962C8B-B14F-4D97-AF65-F5344CB8AC3E}">
        <p14:creationId xmlns:p14="http://schemas.microsoft.com/office/powerpoint/2010/main" val="2519684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6D356C-5C99-4417-AA48-1EE195865F48}" type="datetimeFigureOut">
              <a:rPr lang="en-IN" smtClean="0"/>
              <a:t>2026-07-10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6519890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5791" y="2665532"/>
            <a:ext cx="6520220" cy="4447496"/>
          </a:xfrm>
        </p:spPr>
        <p:txBody>
          <a:bodyPr anchor="b"/>
          <a:lstStyle>
            <a:lvl1pPr>
              <a:defRPr sz="4960"/>
            </a:lvl1pPr>
          </a:lstStyle>
          <a:p>
            <a:r>
              <a:rPr lang="en-US"/>
              <a:t>Click to edit Master title style</a:t>
            </a:r>
            <a:endParaRPr lang="en-US" dirty="0"/>
          </a:p>
        </p:txBody>
      </p:sp>
      <p:sp>
        <p:nvSpPr>
          <p:cNvPr id="3" name="Text Placeholder 2"/>
          <p:cNvSpPr>
            <a:spLocks noGrp="1"/>
          </p:cNvSpPr>
          <p:nvPr>
            <p:ph type="body" idx="1"/>
          </p:nvPr>
        </p:nvSpPr>
        <p:spPr>
          <a:xfrm>
            <a:off x="515791" y="7155103"/>
            <a:ext cx="6520220" cy="2338833"/>
          </a:xfrm>
        </p:spPr>
        <p:txBody>
          <a:bodyPr/>
          <a:lstStyle>
            <a:lvl1pPr marL="0" indent="0">
              <a:buNone/>
              <a:defRPr sz="1984">
                <a:solidFill>
                  <a:schemeClr val="tx1"/>
                </a:solidFill>
              </a:defRPr>
            </a:lvl1pPr>
            <a:lvl2pPr marL="377967" indent="0">
              <a:buNone/>
              <a:defRPr sz="1653">
                <a:solidFill>
                  <a:schemeClr val="tx1">
                    <a:tint val="75000"/>
                  </a:schemeClr>
                </a:solidFill>
              </a:defRPr>
            </a:lvl2pPr>
            <a:lvl3pPr marL="755934" indent="0">
              <a:buNone/>
              <a:defRPr sz="1488">
                <a:solidFill>
                  <a:schemeClr val="tx1">
                    <a:tint val="75000"/>
                  </a:schemeClr>
                </a:solidFill>
              </a:defRPr>
            </a:lvl3pPr>
            <a:lvl4pPr marL="1133902" indent="0">
              <a:buNone/>
              <a:defRPr sz="1323">
                <a:solidFill>
                  <a:schemeClr val="tx1">
                    <a:tint val="75000"/>
                  </a:schemeClr>
                </a:solidFill>
              </a:defRPr>
            </a:lvl4pPr>
            <a:lvl5pPr marL="1511869" indent="0">
              <a:buNone/>
              <a:defRPr sz="1323">
                <a:solidFill>
                  <a:schemeClr val="tx1">
                    <a:tint val="75000"/>
                  </a:schemeClr>
                </a:solidFill>
              </a:defRPr>
            </a:lvl5pPr>
            <a:lvl6pPr marL="1889836" indent="0">
              <a:buNone/>
              <a:defRPr sz="1323">
                <a:solidFill>
                  <a:schemeClr val="tx1">
                    <a:tint val="75000"/>
                  </a:schemeClr>
                </a:solidFill>
              </a:defRPr>
            </a:lvl6pPr>
            <a:lvl7pPr marL="2267803" indent="0">
              <a:buNone/>
              <a:defRPr sz="1323">
                <a:solidFill>
                  <a:schemeClr val="tx1">
                    <a:tint val="75000"/>
                  </a:schemeClr>
                </a:solidFill>
              </a:defRPr>
            </a:lvl7pPr>
            <a:lvl8pPr marL="2645771" indent="0">
              <a:buNone/>
              <a:defRPr sz="1323">
                <a:solidFill>
                  <a:schemeClr val="tx1">
                    <a:tint val="75000"/>
                  </a:schemeClr>
                </a:solidFill>
              </a:defRPr>
            </a:lvl8pPr>
            <a:lvl9pPr marL="3023738" indent="0">
              <a:buNone/>
              <a:defRPr sz="132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6D356C-5C99-4417-AA48-1EE195865F48}" type="datetimeFigureOut">
              <a:rPr lang="en-IN" smtClean="0"/>
              <a:t>2026-07-10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20465709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9728"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27085" y="2846200"/>
            <a:ext cx="3212862"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16D356C-5C99-4417-AA48-1EE195865F48}" type="datetimeFigureOut">
              <a:rPr lang="en-IN" smtClean="0"/>
              <a:t>2026-07-10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690630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20712" y="569242"/>
            <a:ext cx="6520220"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520713" y="2620980"/>
            <a:ext cx="3198096"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4" name="Content Placeholder 3"/>
          <p:cNvSpPr>
            <a:spLocks noGrp="1"/>
          </p:cNvSpPr>
          <p:nvPr>
            <p:ph sz="half" idx="2"/>
          </p:nvPr>
        </p:nvSpPr>
        <p:spPr>
          <a:xfrm>
            <a:off x="520713" y="3905482"/>
            <a:ext cx="3198096"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27086" y="2620980"/>
            <a:ext cx="3213847" cy="1284502"/>
          </a:xfrm>
        </p:spPr>
        <p:txBody>
          <a:bodyPr anchor="b"/>
          <a:lstStyle>
            <a:lvl1pPr marL="0" indent="0">
              <a:buNone/>
              <a:defRPr sz="1984" b="1"/>
            </a:lvl1pPr>
            <a:lvl2pPr marL="377967" indent="0">
              <a:buNone/>
              <a:defRPr sz="1653" b="1"/>
            </a:lvl2pPr>
            <a:lvl3pPr marL="755934" indent="0">
              <a:buNone/>
              <a:defRPr sz="1488" b="1"/>
            </a:lvl3pPr>
            <a:lvl4pPr marL="1133902" indent="0">
              <a:buNone/>
              <a:defRPr sz="1323" b="1"/>
            </a:lvl4pPr>
            <a:lvl5pPr marL="1511869" indent="0">
              <a:buNone/>
              <a:defRPr sz="1323" b="1"/>
            </a:lvl5pPr>
            <a:lvl6pPr marL="1889836" indent="0">
              <a:buNone/>
              <a:defRPr sz="1323" b="1"/>
            </a:lvl6pPr>
            <a:lvl7pPr marL="2267803" indent="0">
              <a:buNone/>
              <a:defRPr sz="1323" b="1"/>
            </a:lvl7pPr>
            <a:lvl8pPr marL="2645771" indent="0">
              <a:buNone/>
              <a:defRPr sz="1323" b="1"/>
            </a:lvl8pPr>
            <a:lvl9pPr marL="3023738" indent="0">
              <a:buNone/>
              <a:defRPr sz="1323" b="1"/>
            </a:lvl9pPr>
          </a:lstStyle>
          <a:p>
            <a:pPr lvl="0"/>
            <a:r>
              <a:rPr lang="en-US"/>
              <a:t>Click to edit Master text styles</a:t>
            </a:r>
          </a:p>
        </p:txBody>
      </p:sp>
      <p:sp>
        <p:nvSpPr>
          <p:cNvPr id="6" name="Content Placeholder 5"/>
          <p:cNvSpPr>
            <a:spLocks noGrp="1"/>
          </p:cNvSpPr>
          <p:nvPr>
            <p:ph sz="quarter" idx="4"/>
          </p:nvPr>
        </p:nvSpPr>
        <p:spPr>
          <a:xfrm>
            <a:off x="3827086" y="3905482"/>
            <a:ext cx="3213847"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16D356C-5C99-4417-AA48-1EE195865F48}" type="datetimeFigureOut">
              <a:rPr lang="en-IN" smtClean="0"/>
              <a:t>2026-07-10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2646274988"/>
      </p:ext>
    </p:extLst>
  </p:cSld>
  <p:clrMapOvr>
    <a:masterClrMapping/>
  </p:clrMapOvr>
  <p:extLst>
    <p:ext uri="{DCECCB84-F9BA-43D5-87BE-67443E8EF086}">
      <p15:sldGuideLst xmlns:p15="http://schemas.microsoft.com/office/powerpoint/2012/main">
        <p15:guide id="1" orient="horz" pos="3367" userDrawn="1">
          <p15:clr>
            <a:srgbClr val="FBAE40"/>
          </p15:clr>
        </p15:guide>
        <p15:guide id="2" pos="238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16D356C-5C99-4417-AA48-1EE195865F48}" type="datetimeFigureOut">
              <a:rPr lang="en-IN" smtClean="0"/>
              <a:t>2026-07-10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32236825"/>
      </p:ext>
    </p:extLst>
  </p:cSld>
  <p:clrMapOvr>
    <a:masterClrMapping/>
  </p:clrMapOvr>
  <p:extLst>
    <p:ext uri="{DCECCB84-F9BA-43D5-87BE-67443E8EF086}">
      <p15:sldGuideLst xmlns:p15="http://schemas.microsoft.com/office/powerpoint/2012/main">
        <p15:guide id="1" orient="horz" pos="3367" userDrawn="1">
          <p15:clr>
            <a:srgbClr val="FBAE40"/>
          </p15:clr>
        </p15:guide>
        <p15:guide id="2" pos="2381"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A643394E-E13F-C7B3-6CBD-39619B360419}"/>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Date Placeholder 1"/>
          <p:cNvSpPr>
            <a:spLocks noGrp="1"/>
          </p:cNvSpPr>
          <p:nvPr>
            <p:ph type="dt" sz="half" idx="10"/>
          </p:nvPr>
        </p:nvSpPr>
        <p:spPr/>
        <p:txBody>
          <a:bodyPr/>
          <a:lstStyle/>
          <a:p>
            <a:fld id="{716D356C-5C99-4417-AA48-1EE195865F48}" type="datetimeFigureOut">
              <a:rPr lang="en-IN" smtClean="0"/>
              <a:t>2026-07-10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7B13457-73C8-4680-A13A-4E6603DA28D5}" type="slidenum">
              <a:rPr lang="en-IN" smtClean="0"/>
              <a:t>‹#›</a:t>
            </a:fld>
            <a:endParaRPr lang="en-IN"/>
          </a:p>
        </p:txBody>
      </p:sp>
      <p:sp>
        <p:nvSpPr>
          <p:cNvPr id="5" name="Rectangle 4">
            <a:extLst>
              <a:ext uri="{FF2B5EF4-FFF2-40B4-BE49-F238E27FC236}">
                <a16:creationId xmlns:a16="http://schemas.microsoft.com/office/drawing/2014/main" id="{25EB6E03-333C-A497-AE90-821288C1F0E0}"/>
              </a:ext>
            </a:extLst>
          </p:cNvPr>
          <p:cNvSpPr/>
          <p:nvPr userDrawn="1"/>
        </p:nvSpPr>
        <p:spPr>
          <a:xfrm>
            <a:off x="0" y="-4055"/>
            <a:ext cx="7559675" cy="1080000"/>
          </a:xfrm>
          <a:prstGeom prst="rect">
            <a:avLst/>
          </a:prstGeom>
          <a:solidFill>
            <a:srgbClr val="14213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8E1CD51-159C-95EA-1E71-F3F66EE9AD80}"/>
              </a:ext>
            </a:extLst>
          </p:cNvPr>
          <p:cNvSpPr/>
          <p:nvPr userDrawn="1"/>
        </p:nvSpPr>
        <p:spPr>
          <a:xfrm>
            <a:off x="0" y="1065150"/>
            <a:ext cx="7559675" cy="54000"/>
          </a:xfrm>
          <a:prstGeom prst="rect">
            <a:avLst/>
          </a:prstGeom>
          <a:solidFill>
            <a:srgbClr val="D4A01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859445630"/>
      </p:ext>
    </p:extLst>
  </p:cSld>
  <p:clrMapOvr>
    <a:masterClrMapping/>
  </p:clrMapOvr>
  <p:extLst>
    <p:ext uri="{DCECCB84-F9BA-43D5-87BE-67443E8EF086}">
      <p15:sldGuideLst xmlns:p15="http://schemas.microsoft.com/office/powerpoint/2012/main">
        <p15:guide id="1" orient="horz" pos="3367" userDrawn="1">
          <p15:clr>
            <a:srgbClr val="FBAE40"/>
          </p15:clr>
        </p15:guide>
        <p15:guide id="2" pos="2381"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Content Placeholder 2"/>
          <p:cNvSpPr>
            <a:spLocks noGrp="1"/>
          </p:cNvSpPr>
          <p:nvPr>
            <p:ph idx="1"/>
          </p:nvPr>
        </p:nvSpPr>
        <p:spPr>
          <a:xfrm>
            <a:off x="3213847" y="1539425"/>
            <a:ext cx="3827085" cy="7598117"/>
          </a:xfrm>
        </p:spPr>
        <p:txBody>
          <a:bodyPr/>
          <a:lstStyle>
            <a:lvl1pPr>
              <a:defRPr sz="2645"/>
            </a:lvl1pPr>
            <a:lvl2pPr>
              <a:defRPr sz="2315"/>
            </a:lvl2pPr>
            <a:lvl3pPr>
              <a:defRPr sz="1984"/>
            </a:lvl3pPr>
            <a:lvl4pPr>
              <a:defRPr sz="1653"/>
            </a:lvl4pPr>
            <a:lvl5pPr>
              <a:defRPr sz="1653"/>
            </a:lvl5pPr>
            <a:lvl6pPr>
              <a:defRPr sz="1653"/>
            </a:lvl6pPr>
            <a:lvl7pPr>
              <a:defRPr sz="1653"/>
            </a:lvl7pPr>
            <a:lvl8pPr>
              <a:defRPr sz="1653"/>
            </a:lvl8pPr>
            <a:lvl9pPr>
              <a:defRPr sz="165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716D356C-5C99-4417-AA48-1EE195865F48}" type="datetimeFigureOut">
              <a:rPr lang="en-IN" smtClean="0"/>
              <a:t>2026-07-10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3502383661"/>
      </p:ext>
    </p:extLst>
  </p:cSld>
  <p:clrMapOvr>
    <a:masterClrMapping/>
  </p:clrMapOvr>
  <p:extLst>
    <p:ext uri="{DCECCB84-F9BA-43D5-87BE-67443E8EF086}">
      <p15:sldGuideLst xmlns:p15="http://schemas.microsoft.com/office/powerpoint/2012/main">
        <p15:guide id="1" orient="horz" pos="3367" userDrawn="1">
          <p15:clr>
            <a:srgbClr val="FBAE40"/>
          </p15:clr>
        </p15:guide>
        <p15:guide id="2" pos="2381"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20712" y="712788"/>
            <a:ext cx="2438192" cy="2494756"/>
          </a:xfrm>
        </p:spPr>
        <p:txBody>
          <a:bodyPr anchor="b"/>
          <a:lstStyle>
            <a:lvl1pPr>
              <a:defRPr sz="2645"/>
            </a:lvl1pPr>
          </a:lstStyle>
          <a:p>
            <a:r>
              <a:rPr lang="en-US"/>
              <a:t>Click to edit Master title style</a:t>
            </a:r>
            <a:endParaRPr lang="en-US" dirty="0"/>
          </a:p>
        </p:txBody>
      </p:sp>
      <p:sp>
        <p:nvSpPr>
          <p:cNvPr id="3" name="Picture Placeholder 2"/>
          <p:cNvSpPr>
            <a:spLocks noGrp="1" noChangeAspect="1"/>
          </p:cNvSpPr>
          <p:nvPr>
            <p:ph type="pic" idx="1"/>
          </p:nvPr>
        </p:nvSpPr>
        <p:spPr>
          <a:xfrm>
            <a:off x="3213847" y="1539425"/>
            <a:ext cx="3827085" cy="7598117"/>
          </a:xfrm>
        </p:spPr>
        <p:txBody>
          <a:bodyPr anchor="t"/>
          <a:lstStyle>
            <a:lvl1pPr marL="0" indent="0">
              <a:buNone/>
              <a:defRPr sz="2645"/>
            </a:lvl1pPr>
            <a:lvl2pPr marL="377967" indent="0">
              <a:buNone/>
              <a:defRPr sz="2315"/>
            </a:lvl2pPr>
            <a:lvl3pPr marL="755934" indent="0">
              <a:buNone/>
              <a:defRPr sz="1984"/>
            </a:lvl3pPr>
            <a:lvl4pPr marL="1133902" indent="0">
              <a:buNone/>
              <a:defRPr sz="1653"/>
            </a:lvl4pPr>
            <a:lvl5pPr marL="1511869" indent="0">
              <a:buNone/>
              <a:defRPr sz="1653"/>
            </a:lvl5pPr>
            <a:lvl6pPr marL="1889836" indent="0">
              <a:buNone/>
              <a:defRPr sz="1653"/>
            </a:lvl6pPr>
            <a:lvl7pPr marL="2267803" indent="0">
              <a:buNone/>
              <a:defRPr sz="1653"/>
            </a:lvl7pPr>
            <a:lvl8pPr marL="2645771" indent="0">
              <a:buNone/>
              <a:defRPr sz="1653"/>
            </a:lvl8pPr>
            <a:lvl9pPr marL="3023738" indent="0">
              <a:buNone/>
              <a:defRPr sz="1653"/>
            </a:lvl9pPr>
          </a:lstStyle>
          <a:p>
            <a:r>
              <a:rPr lang="en-US"/>
              <a:t>Click icon to add picture</a:t>
            </a:r>
            <a:endParaRPr lang="en-US" dirty="0"/>
          </a:p>
        </p:txBody>
      </p:sp>
      <p:sp>
        <p:nvSpPr>
          <p:cNvPr id="4" name="Text Placeholder 3"/>
          <p:cNvSpPr>
            <a:spLocks noGrp="1"/>
          </p:cNvSpPr>
          <p:nvPr>
            <p:ph type="body" sz="half" idx="2"/>
          </p:nvPr>
        </p:nvSpPr>
        <p:spPr>
          <a:xfrm>
            <a:off x="520712" y="3207544"/>
            <a:ext cx="2438192" cy="5942372"/>
          </a:xfrm>
        </p:spPr>
        <p:txBody>
          <a:bodyPr/>
          <a:lstStyle>
            <a:lvl1pPr marL="0" indent="0">
              <a:buNone/>
              <a:defRPr sz="1323"/>
            </a:lvl1pPr>
            <a:lvl2pPr marL="377967" indent="0">
              <a:buNone/>
              <a:defRPr sz="1157"/>
            </a:lvl2pPr>
            <a:lvl3pPr marL="755934" indent="0">
              <a:buNone/>
              <a:defRPr sz="992"/>
            </a:lvl3pPr>
            <a:lvl4pPr marL="1133902" indent="0">
              <a:buNone/>
              <a:defRPr sz="827"/>
            </a:lvl4pPr>
            <a:lvl5pPr marL="1511869" indent="0">
              <a:buNone/>
              <a:defRPr sz="827"/>
            </a:lvl5pPr>
            <a:lvl6pPr marL="1889836" indent="0">
              <a:buNone/>
              <a:defRPr sz="827"/>
            </a:lvl6pPr>
            <a:lvl7pPr marL="2267803" indent="0">
              <a:buNone/>
              <a:defRPr sz="827"/>
            </a:lvl7pPr>
            <a:lvl8pPr marL="2645771" indent="0">
              <a:buNone/>
              <a:defRPr sz="827"/>
            </a:lvl8pPr>
            <a:lvl9pPr marL="3023738" indent="0">
              <a:buNone/>
              <a:defRPr sz="827"/>
            </a:lvl9pPr>
          </a:lstStyle>
          <a:p>
            <a:pPr lvl="0"/>
            <a:r>
              <a:rPr lang="en-US"/>
              <a:t>Click to edit Master text styles</a:t>
            </a:r>
          </a:p>
        </p:txBody>
      </p:sp>
      <p:sp>
        <p:nvSpPr>
          <p:cNvPr id="5" name="Date Placeholder 4"/>
          <p:cNvSpPr>
            <a:spLocks noGrp="1"/>
          </p:cNvSpPr>
          <p:nvPr>
            <p:ph type="dt" sz="half" idx="10"/>
          </p:nvPr>
        </p:nvSpPr>
        <p:spPr/>
        <p:txBody>
          <a:bodyPr/>
          <a:lstStyle/>
          <a:p>
            <a:fld id="{716D356C-5C99-4417-AA48-1EE195865F48}" type="datetimeFigureOut">
              <a:rPr lang="en-IN" smtClean="0"/>
              <a:t>2026-07-10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915003675"/>
      </p:ext>
    </p:extLst>
  </p:cSld>
  <p:clrMapOvr>
    <a:masterClrMapping/>
  </p:clrMapOvr>
  <p:extLst>
    <p:ext uri="{DCECCB84-F9BA-43D5-87BE-67443E8EF086}">
      <p15:sldGuideLst xmlns:p15="http://schemas.microsoft.com/office/powerpoint/2012/main">
        <p15:guide id="1" orient="horz" pos="3367" userDrawn="1">
          <p15:clr>
            <a:srgbClr val="FBAE40"/>
          </p15:clr>
        </p15:guide>
        <p15:guide id="2" pos="238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6D356C-5C99-4417-AA48-1EE195865F48}" type="datetimeFigureOut">
              <a:rPr lang="en-IN" smtClean="0"/>
              <a:t>2026-07-10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3573965693"/>
      </p:ext>
    </p:extLst>
  </p:cSld>
  <p:clrMapOvr>
    <a:masterClrMapping/>
  </p:clrMapOvr>
  <p:extLst>
    <p:ext uri="{DCECCB84-F9BA-43D5-87BE-67443E8EF086}">
      <p15:sldGuideLst xmlns:p15="http://schemas.microsoft.com/office/powerpoint/2012/main">
        <p15:guide id="1" orient="horz" pos="3367" userDrawn="1">
          <p15:clr>
            <a:srgbClr val="FBAE40"/>
          </p15:clr>
        </p15:guide>
        <p15:guide id="2" pos="23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409893" y="569240"/>
            <a:ext cx="1630055"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9728" y="569240"/>
            <a:ext cx="4795669"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6D356C-5C99-4417-AA48-1EE195865F48}" type="datetimeFigureOut">
              <a:rPr lang="en-IN" smtClean="0"/>
              <a:t>2026-07-10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7B13457-73C8-4680-A13A-4E6603DA28D5}" type="slidenum">
              <a:rPr lang="en-IN" smtClean="0"/>
              <a:t>‹#›</a:t>
            </a:fld>
            <a:endParaRPr lang="en-IN"/>
          </a:p>
        </p:txBody>
      </p:sp>
    </p:spTree>
    <p:extLst>
      <p:ext uri="{BB962C8B-B14F-4D97-AF65-F5344CB8AC3E}">
        <p14:creationId xmlns:p14="http://schemas.microsoft.com/office/powerpoint/2010/main" val="3204482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48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728" y="569242"/>
            <a:ext cx="6520220"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9728" y="2846200"/>
            <a:ext cx="6520220"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9728" y="9909729"/>
            <a:ext cx="1700927" cy="569240"/>
          </a:xfrm>
          <a:prstGeom prst="rect">
            <a:avLst/>
          </a:prstGeom>
        </p:spPr>
        <p:txBody>
          <a:bodyPr vert="horz" lIns="91440" tIns="45720" rIns="91440" bIns="45720" rtlCol="0" anchor="ctr"/>
          <a:lstStyle>
            <a:lvl1pPr algn="l">
              <a:defRPr sz="992">
                <a:solidFill>
                  <a:schemeClr val="tx1">
                    <a:tint val="75000"/>
                  </a:schemeClr>
                </a:solidFill>
              </a:defRPr>
            </a:lvl1pPr>
          </a:lstStyle>
          <a:p>
            <a:fld id="{716D356C-5C99-4417-AA48-1EE195865F48}" type="datetimeFigureOut">
              <a:rPr lang="en-IN" smtClean="0"/>
              <a:t>2026-07-10</a:t>
            </a:fld>
            <a:endParaRPr lang="en-IN"/>
          </a:p>
        </p:txBody>
      </p:sp>
      <p:sp>
        <p:nvSpPr>
          <p:cNvPr id="5" name="Footer Placeholder 4"/>
          <p:cNvSpPr>
            <a:spLocks noGrp="1"/>
          </p:cNvSpPr>
          <p:nvPr>
            <p:ph type="ftr" sz="quarter" idx="3"/>
          </p:nvPr>
        </p:nvSpPr>
        <p:spPr>
          <a:xfrm>
            <a:off x="2504143" y="9909729"/>
            <a:ext cx="2551390" cy="569240"/>
          </a:xfrm>
          <a:prstGeom prst="rect">
            <a:avLst/>
          </a:prstGeom>
        </p:spPr>
        <p:txBody>
          <a:bodyPr vert="horz" lIns="91440" tIns="45720" rIns="91440" bIns="45720" rtlCol="0" anchor="ctr"/>
          <a:lstStyle>
            <a:lvl1pPr algn="ctr">
              <a:defRPr sz="992">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39020" y="9909729"/>
            <a:ext cx="1700927" cy="569240"/>
          </a:xfrm>
          <a:prstGeom prst="rect">
            <a:avLst/>
          </a:prstGeom>
        </p:spPr>
        <p:txBody>
          <a:bodyPr vert="horz" lIns="91440" tIns="45720" rIns="91440" bIns="45720" rtlCol="0" anchor="ctr"/>
          <a:lstStyle>
            <a:lvl1pPr algn="r">
              <a:defRPr sz="992">
                <a:solidFill>
                  <a:schemeClr val="tx1">
                    <a:tint val="75000"/>
                  </a:schemeClr>
                </a:solidFill>
              </a:defRPr>
            </a:lvl1pPr>
          </a:lstStyle>
          <a:p>
            <a:fld id="{E7B13457-73C8-4680-A13A-4E6603DA28D5}" type="slidenum">
              <a:rPr lang="en-IN" smtClean="0"/>
              <a:t>‹#›</a:t>
            </a:fld>
            <a:endParaRPr lang="en-IN"/>
          </a:p>
        </p:txBody>
      </p:sp>
    </p:spTree>
    <p:extLst>
      <p:ext uri="{BB962C8B-B14F-4D97-AF65-F5344CB8AC3E}">
        <p14:creationId xmlns:p14="http://schemas.microsoft.com/office/powerpoint/2010/main" val="21687156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55934" rtl="0" eaLnBrk="1" latinLnBrk="0" hangingPunct="1">
        <a:lnSpc>
          <a:spcPct val="90000"/>
        </a:lnSpc>
        <a:spcBef>
          <a:spcPct val="0"/>
        </a:spcBef>
        <a:buNone/>
        <a:defRPr sz="3637" kern="1200">
          <a:solidFill>
            <a:schemeClr val="tx1"/>
          </a:solidFill>
          <a:latin typeface="+mj-lt"/>
          <a:ea typeface="+mj-ea"/>
          <a:cs typeface="+mj-cs"/>
        </a:defRPr>
      </a:lvl1pPr>
    </p:titleStyle>
    <p:bodyStyle>
      <a:lvl1pPr marL="188984" indent="-188984" algn="l" defTabSz="755934" rtl="0" eaLnBrk="1" latinLnBrk="0" hangingPunct="1">
        <a:lnSpc>
          <a:spcPct val="90000"/>
        </a:lnSpc>
        <a:spcBef>
          <a:spcPts val="827"/>
        </a:spcBef>
        <a:buFont typeface="Arial" panose="020B0604020202020204" pitchFamily="34" charset="0"/>
        <a:buChar char="•"/>
        <a:defRPr sz="2315" kern="1200">
          <a:solidFill>
            <a:schemeClr val="tx1"/>
          </a:solidFill>
          <a:latin typeface="+mn-lt"/>
          <a:ea typeface="+mn-ea"/>
          <a:cs typeface="+mn-cs"/>
        </a:defRPr>
      </a:lvl1pPr>
      <a:lvl2pPr marL="566951" indent="-188984" algn="l" defTabSz="755934" rtl="0" eaLnBrk="1" latinLnBrk="0" hangingPunct="1">
        <a:lnSpc>
          <a:spcPct val="90000"/>
        </a:lnSpc>
        <a:spcBef>
          <a:spcPts val="413"/>
        </a:spcBef>
        <a:buFont typeface="Arial" panose="020B0604020202020204" pitchFamily="34" charset="0"/>
        <a:buChar char="•"/>
        <a:defRPr sz="1984" kern="1200">
          <a:solidFill>
            <a:schemeClr val="tx1"/>
          </a:solidFill>
          <a:latin typeface="+mn-lt"/>
          <a:ea typeface="+mn-ea"/>
          <a:cs typeface="+mn-cs"/>
        </a:defRPr>
      </a:lvl2pPr>
      <a:lvl3pPr marL="944918" indent="-188984" algn="l" defTabSz="755934" rtl="0" eaLnBrk="1" latinLnBrk="0" hangingPunct="1">
        <a:lnSpc>
          <a:spcPct val="90000"/>
        </a:lnSpc>
        <a:spcBef>
          <a:spcPts val="413"/>
        </a:spcBef>
        <a:buFont typeface="Arial" panose="020B0604020202020204" pitchFamily="34" charset="0"/>
        <a:buChar char="•"/>
        <a:defRPr sz="1653" kern="1200">
          <a:solidFill>
            <a:schemeClr val="tx1"/>
          </a:solidFill>
          <a:latin typeface="+mn-lt"/>
          <a:ea typeface="+mn-ea"/>
          <a:cs typeface="+mn-cs"/>
        </a:defRPr>
      </a:lvl3pPr>
      <a:lvl4pPr marL="1322885"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4pPr>
      <a:lvl5pPr marL="1700853"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5pPr>
      <a:lvl6pPr marL="2078820"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6pPr>
      <a:lvl7pPr marL="2456787"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7pPr>
      <a:lvl8pPr marL="2834754"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8pPr>
      <a:lvl9pPr marL="3212722" indent="-188984" algn="l" defTabSz="755934" rtl="0" eaLnBrk="1" latinLnBrk="0" hangingPunct="1">
        <a:lnSpc>
          <a:spcPct val="90000"/>
        </a:lnSpc>
        <a:spcBef>
          <a:spcPts val="413"/>
        </a:spcBef>
        <a:buFont typeface="Arial" panose="020B0604020202020204" pitchFamily="34" charset="0"/>
        <a:buChar char="•"/>
        <a:defRPr sz="1488" kern="1200">
          <a:solidFill>
            <a:schemeClr val="tx1"/>
          </a:solidFill>
          <a:latin typeface="+mn-lt"/>
          <a:ea typeface="+mn-ea"/>
          <a:cs typeface="+mn-cs"/>
        </a:defRPr>
      </a:lvl9pPr>
    </p:bodyStyle>
    <p:otherStyle>
      <a:defPPr>
        <a:defRPr lang="en-US"/>
      </a:defPPr>
      <a:lvl1pPr marL="0" algn="l" defTabSz="755934" rtl="0" eaLnBrk="1" latinLnBrk="0" hangingPunct="1">
        <a:defRPr sz="1488" kern="1200">
          <a:solidFill>
            <a:schemeClr val="tx1"/>
          </a:solidFill>
          <a:latin typeface="+mn-lt"/>
          <a:ea typeface="+mn-ea"/>
          <a:cs typeface="+mn-cs"/>
        </a:defRPr>
      </a:lvl1pPr>
      <a:lvl2pPr marL="377967" algn="l" defTabSz="755934" rtl="0" eaLnBrk="1" latinLnBrk="0" hangingPunct="1">
        <a:defRPr sz="1488" kern="1200">
          <a:solidFill>
            <a:schemeClr val="tx1"/>
          </a:solidFill>
          <a:latin typeface="+mn-lt"/>
          <a:ea typeface="+mn-ea"/>
          <a:cs typeface="+mn-cs"/>
        </a:defRPr>
      </a:lvl2pPr>
      <a:lvl3pPr marL="755934" algn="l" defTabSz="755934" rtl="0" eaLnBrk="1" latinLnBrk="0" hangingPunct="1">
        <a:defRPr sz="1488" kern="1200">
          <a:solidFill>
            <a:schemeClr val="tx1"/>
          </a:solidFill>
          <a:latin typeface="+mn-lt"/>
          <a:ea typeface="+mn-ea"/>
          <a:cs typeface="+mn-cs"/>
        </a:defRPr>
      </a:lvl3pPr>
      <a:lvl4pPr marL="1133902" algn="l" defTabSz="755934" rtl="0" eaLnBrk="1" latinLnBrk="0" hangingPunct="1">
        <a:defRPr sz="1488" kern="1200">
          <a:solidFill>
            <a:schemeClr val="tx1"/>
          </a:solidFill>
          <a:latin typeface="+mn-lt"/>
          <a:ea typeface="+mn-ea"/>
          <a:cs typeface="+mn-cs"/>
        </a:defRPr>
      </a:lvl4pPr>
      <a:lvl5pPr marL="1511869" algn="l" defTabSz="755934" rtl="0" eaLnBrk="1" latinLnBrk="0" hangingPunct="1">
        <a:defRPr sz="1488" kern="1200">
          <a:solidFill>
            <a:schemeClr val="tx1"/>
          </a:solidFill>
          <a:latin typeface="+mn-lt"/>
          <a:ea typeface="+mn-ea"/>
          <a:cs typeface="+mn-cs"/>
        </a:defRPr>
      </a:lvl5pPr>
      <a:lvl6pPr marL="1889836" algn="l" defTabSz="755934" rtl="0" eaLnBrk="1" latinLnBrk="0" hangingPunct="1">
        <a:defRPr sz="1488" kern="1200">
          <a:solidFill>
            <a:schemeClr val="tx1"/>
          </a:solidFill>
          <a:latin typeface="+mn-lt"/>
          <a:ea typeface="+mn-ea"/>
          <a:cs typeface="+mn-cs"/>
        </a:defRPr>
      </a:lvl6pPr>
      <a:lvl7pPr marL="2267803" algn="l" defTabSz="755934" rtl="0" eaLnBrk="1" latinLnBrk="0" hangingPunct="1">
        <a:defRPr sz="1488" kern="1200">
          <a:solidFill>
            <a:schemeClr val="tx1"/>
          </a:solidFill>
          <a:latin typeface="+mn-lt"/>
          <a:ea typeface="+mn-ea"/>
          <a:cs typeface="+mn-cs"/>
        </a:defRPr>
      </a:lvl7pPr>
      <a:lvl8pPr marL="2645771" algn="l" defTabSz="755934" rtl="0" eaLnBrk="1" latinLnBrk="0" hangingPunct="1">
        <a:defRPr sz="1488" kern="1200">
          <a:solidFill>
            <a:schemeClr val="tx1"/>
          </a:solidFill>
          <a:latin typeface="+mn-lt"/>
          <a:ea typeface="+mn-ea"/>
          <a:cs typeface="+mn-cs"/>
        </a:defRPr>
      </a:lvl8pPr>
      <a:lvl9pPr marL="3023738" algn="l" defTabSz="755934" rtl="0" eaLnBrk="1" latinLnBrk="0" hangingPunct="1">
        <a:defRPr sz="148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0F25F2AE-0E40-962A-E96C-7459968611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560000" cy="10772774"/>
          </a:xfrm>
          <a:prstGeom prst="rect">
            <a:avLst/>
          </a:prstGeom>
        </p:spPr>
      </p:pic>
      <p:cxnSp>
        <p:nvCxnSpPr>
          <p:cNvPr id="12" name="Straight Connector 11">
            <a:extLst>
              <a:ext uri="{FF2B5EF4-FFF2-40B4-BE49-F238E27FC236}">
                <a16:creationId xmlns:a16="http://schemas.microsoft.com/office/drawing/2014/main" id="{C80136C8-C3A6-28A8-682E-36D1D200ABA6}"/>
              </a:ext>
            </a:extLst>
          </p:cNvPr>
          <p:cNvCxnSpPr>
            <a:cxnSpLocks/>
          </p:cNvCxnSpPr>
          <p:nvPr/>
        </p:nvCxnSpPr>
        <p:spPr>
          <a:xfrm flipV="1">
            <a:off x="0" y="2160775"/>
            <a:ext cx="7426773" cy="21552"/>
          </a:xfrm>
          <a:prstGeom prst="line">
            <a:avLst/>
          </a:prstGeom>
          <a:ln w="9525">
            <a:solidFill>
              <a:srgbClr val="CCCCCC"/>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F004E512-384E-F982-88DB-B227DA592FE6}"/>
              </a:ext>
            </a:extLst>
          </p:cNvPr>
          <p:cNvSpPr/>
          <p:nvPr/>
        </p:nvSpPr>
        <p:spPr>
          <a:xfrm>
            <a:off x="-15188" y="48541"/>
            <a:ext cx="7559675" cy="10692000"/>
          </a:xfrm>
          <a:prstGeom prst="rect">
            <a:avLst/>
          </a:prstGeom>
          <a:solidFill>
            <a:srgbClr val="0A0F1A">
              <a:alpha val="5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Rectangle 21">
            <a:extLst>
              <a:ext uri="{FF2B5EF4-FFF2-40B4-BE49-F238E27FC236}">
                <a16:creationId xmlns:a16="http://schemas.microsoft.com/office/drawing/2014/main" id="{3BADB0AB-578E-B1BE-B24A-AAFDE8CAF8A8}"/>
              </a:ext>
            </a:extLst>
          </p:cNvPr>
          <p:cNvSpPr/>
          <p:nvPr/>
        </p:nvSpPr>
        <p:spPr>
          <a:xfrm>
            <a:off x="0" y="7505700"/>
            <a:ext cx="7560000" cy="3272025"/>
          </a:xfrm>
          <a:prstGeom prst="rect">
            <a:avLst/>
          </a:prstGeom>
          <a:gradFill>
            <a:gsLst>
              <a:gs pos="0">
                <a:srgbClr val="0A0F1A">
                  <a:alpha val="0"/>
                </a:srgbClr>
              </a:gs>
              <a:gs pos="74000">
                <a:srgbClr val="0A0F1A"/>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23">
            <a:extLst>
              <a:ext uri="{FF2B5EF4-FFF2-40B4-BE49-F238E27FC236}">
                <a16:creationId xmlns:a16="http://schemas.microsoft.com/office/drawing/2014/main" id="{3FAF78C9-A6C7-4C38-610C-DD5E44298459}"/>
              </a:ext>
            </a:extLst>
          </p:cNvPr>
          <p:cNvSpPr/>
          <p:nvPr/>
        </p:nvSpPr>
        <p:spPr>
          <a:xfrm rot="10800000">
            <a:off x="9525" y="28574"/>
            <a:ext cx="7560000" cy="4456094"/>
          </a:xfrm>
          <a:prstGeom prst="rect">
            <a:avLst/>
          </a:prstGeom>
          <a:gradFill>
            <a:gsLst>
              <a:gs pos="0">
                <a:srgbClr val="0A0F1A">
                  <a:alpha val="0"/>
                </a:srgbClr>
              </a:gs>
              <a:gs pos="74000">
                <a:srgbClr val="0A0F1A"/>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5C831001-D4D1-D515-5535-B5E6B73ACFF4}"/>
              </a:ext>
            </a:extLst>
          </p:cNvPr>
          <p:cNvGrpSpPr/>
          <p:nvPr/>
        </p:nvGrpSpPr>
        <p:grpSpPr>
          <a:xfrm>
            <a:off x="-4763" y="263614"/>
            <a:ext cx="7634288" cy="10273895"/>
            <a:chOff x="-4763" y="263614"/>
            <a:chExt cx="7634288" cy="10273895"/>
          </a:xfrm>
        </p:grpSpPr>
        <p:grpSp>
          <p:nvGrpSpPr>
            <p:cNvPr id="20" name="Group 19">
              <a:extLst>
                <a:ext uri="{FF2B5EF4-FFF2-40B4-BE49-F238E27FC236}">
                  <a16:creationId xmlns:a16="http://schemas.microsoft.com/office/drawing/2014/main" id="{075BE611-E51E-0A04-28C4-5A893E168B09}"/>
                </a:ext>
              </a:extLst>
            </p:cNvPr>
            <p:cNvGrpSpPr/>
            <p:nvPr/>
          </p:nvGrpSpPr>
          <p:grpSpPr>
            <a:xfrm>
              <a:off x="-4763" y="263614"/>
              <a:ext cx="7634288" cy="4264162"/>
              <a:chOff x="-4763" y="263614"/>
              <a:chExt cx="7634288" cy="4264162"/>
            </a:xfrm>
          </p:grpSpPr>
          <p:sp>
            <p:nvSpPr>
              <p:cNvPr id="7" name="TextBox 6">
                <a:extLst>
                  <a:ext uri="{FF2B5EF4-FFF2-40B4-BE49-F238E27FC236}">
                    <a16:creationId xmlns:a16="http://schemas.microsoft.com/office/drawing/2014/main" id="{40B59D00-BA4E-8651-D3F0-57AC597F76C6}"/>
                  </a:ext>
                </a:extLst>
              </p:cNvPr>
              <p:cNvSpPr txBox="1"/>
              <p:nvPr/>
            </p:nvSpPr>
            <p:spPr>
              <a:xfrm>
                <a:off x="142960" y="3774651"/>
                <a:ext cx="6521450" cy="369332"/>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SATYA NARAYAN SAHOO</a:t>
                </a:r>
              </a:p>
            </p:txBody>
          </p:sp>
          <p:sp>
            <p:nvSpPr>
              <p:cNvPr id="8" name="TextBox 7">
                <a:extLst>
                  <a:ext uri="{FF2B5EF4-FFF2-40B4-BE49-F238E27FC236}">
                    <a16:creationId xmlns:a16="http://schemas.microsoft.com/office/drawing/2014/main" id="{F039C147-ED30-D12B-FA2F-CDF4450F4956}"/>
                  </a:ext>
                </a:extLst>
              </p:cNvPr>
              <p:cNvSpPr txBox="1"/>
              <p:nvPr/>
            </p:nvSpPr>
            <p:spPr>
              <a:xfrm>
                <a:off x="190239" y="4066111"/>
                <a:ext cx="6816725" cy="461665"/>
              </a:xfrm>
              <a:prstGeom prst="rect">
                <a:avLst/>
              </a:prstGeom>
              <a:noFill/>
            </p:spPr>
            <p:txBody>
              <a:bodyPr wrap="square" rtlCol="0">
                <a:spAutoFit/>
              </a:bodyPr>
              <a:lstStyle/>
              <a:p>
                <a:r>
                  <a:rPr lang="en-IN" sz="1200" dirty="0">
                    <a:solidFill>
                      <a:schemeClr val="bg1">
                        <a:lumMod val="9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Independent Macro Research</a:t>
                </a:r>
              </a:p>
              <a:p>
                <a:r>
                  <a:rPr lang="en-IN" sz="1200" dirty="0">
                    <a:solidFill>
                      <a:schemeClr val="bg1">
                        <a:lumMod val="9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  June 2026</a:t>
                </a:r>
              </a:p>
            </p:txBody>
          </p:sp>
          <p:sp>
            <p:nvSpPr>
              <p:cNvPr id="3" name="TextBox 2">
                <a:extLst>
                  <a:ext uri="{FF2B5EF4-FFF2-40B4-BE49-F238E27FC236}">
                    <a16:creationId xmlns:a16="http://schemas.microsoft.com/office/drawing/2014/main" id="{4EEB543B-3A85-7C37-FA99-16AA29F1B471}"/>
                  </a:ext>
                </a:extLst>
              </p:cNvPr>
              <p:cNvSpPr txBox="1"/>
              <p:nvPr/>
            </p:nvSpPr>
            <p:spPr>
              <a:xfrm>
                <a:off x="1" y="263614"/>
                <a:ext cx="7629524" cy="584775"/>
              </a:xfrm>
              <a:prstGeom prst="rect">
                <a:avLst/>
              </a:prstGeom>
              <a:noFill/>
            </p:spPr>
            <p:txBody>
              <a:bodyPr wrap="square" rtlCol="0">
                <a:spAutoFit/>
              </a:bodyPr>
              <a:lstStyle/>
              <a:p>
                <a:r>
                  <a:rPr lang="en-IN" sz="3200" b="1" spc="300" dirty="0">
                    <a:solidFill>
                      <a:srgbClr val="D4A017"/>
                    </a:solidFill>
                    <a:latin typeface="Sans Serif Collection" panose="020B0502040504020204" pitchFamily="34" charset="0"/>
                    <a:ea typeface="Sans Serif Collection" panose="020B0502040504020204" pitchFamily="34" charset="0"/>
                    <a:cs typeface="Sans Serif Collection" panose="020B0502040504020204" pitchFamily="34" charset="0"/>
                  </a:rPr>
                  <a:t>GOLD IN THE AGE OF CONFLICT</a:t>
                </a:r>
              </a:p>
            </p:txBody>
          </p:sp>
          <p:sp>
            <p:nvSpPr>
              <p:cNvPr id="4" name="TextBox 3">
                <a:extLst>
                  <a:ext uri="{FF2B5EF4-FFF2-40B4-BE49-F238E27FC236}">
                    <a16:creationId xmlns:a16="http://schemas.microsoft.com/office/drawing/2014/main" id="{6C6F88C8-0DC2-D8DB-7AB5-19C3E52E1C2E}"/>
                  </a:ext>
                </a:extLst>
              </p:cNvPr>
              <p:cNvSpPr txBox="1"/>
              <p:nvPr/>
            </p:nvSpPr>
            <p:spPr>
              <a:xfrm>
                <a:off x="32178" y="616154"/>
                <a:ext cx="5263721" cy="369332"/>
              </a:xfrm>
              <a:prstGeom prst="rect">
                <a:avLst/>
              </a:prstGeom>
              <a:noFill/>
            </p:spPr>
            <p:txBody>
              <a:bodyPr wrap="square" rtlCol="0">
                <a:spAutoFit/>
              </a:bodyPr>
              <a:lstStyle/>
              <a:p>
                <a:r>
                  <a:rPr lang="en-IN" dirty="0">
                    <a:solidFill>
                      <a:schemeClr val="bg1">
                        <a:lumMod val="95000"/>
                        <a:alpha val="85000"/>
                      </a:schemeClr>
                    </a:solidFill>
                    <a:latin typeface="Sans Serif Collection" panose="020B0502040504020204" pitchFamily="34" charset="0"/>
                    <a:ea typeface="Sans Serif Collection" panose="020B0502040504020204" pitchFamily="34" charset="0"/>
                    <a:cs typeface="Sans Serif Collection" panose="020B0502040504020204" pitchFamily="34" charset="0"/>
                  </a:rPr>
                  <a:t>When Safe Havens Stop Being Safe</a:t>
                </a:r>
              </a:p>
            </p:txBody>
          </p:sp>
          <p:sp>
            <p:nvSpPr>
              <p:cNvPr id="5" name="TextBox 4">
                <a:extLst>
                  <a:ext uri="{FF2B5EF4-FFF2-40B4-BE49-F238E27FC236}">
                    <a16:creationId xmlns:a16="http://schemas.microsoft.com/office/drawing/2014/main" id="{71D81664-47DA-3363-01DD-1263C4B95D4A}"/>
                  </a:ext>
                </a:extLst>
              </p:cNvPr>
              <p:cNvSpPr txBox="1"/>
              <p:nvPr/>
            </p:nvSpPr>
            <p:spPr>
              <a:xfrm>
                <a:off x="-4763" y="1967246"/>
                <a:ext cx="7559675" cy="276999"/>
              </a:xfrm>
              <a:prstGeom prst="rect">
                <a:avLst/>
              </a:prstGeom>
              <a:noFill/>
            </p:spPr>
            <p:txBody>
              <a:bodyPr wrap="square" rtlCol="0">
                <a:spAutoFit/>
              </a:bodyPr>
              <a:lstStyle/>
              <a:p>
                <a:r>
                  <a:rPr lang="en-IN" sz="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A Statistical Examination of Gold, the US Dollar, and Geopolitical Uncertainty — 2010 to 2026</a:t>
                </a:r>
              </a:p>
            </p:txBody>
          </p:sp>
          <p:sp>
            <p:nvSpPr>
              <p:cNvPr id="6" name="TextBox 5">
                <a:extLst>
                  <a:ext uri="{FF2B5EF4-FFF2-40B4-BE49-F238E27FC236}">
                    <a16:creationId xmlns:a16="http://schemas.microsoft.com/office/drawing/2014/main" id="{55F4EAEB-F1B4-41D7-8E1C-73F246382173}"/>
                  </a:ext>
                </a:extLst>
              </p:cNvPr>
              <p:cNvSpPr txBox="1"/>
              <p:nvPr/>
            </p:nvSpPr>
            <p:spPr>
              <a:xfrm>
                <a:off x="85725" y="2181734"/>
                <a:ext cx="5219699" cy="246221"/>
              </a:xfrm>
              <a:prstGeom prst="rect">
                <a:avLst/>
              </a:prstGeom>
              <a:noFill/>
            </p:spPr>
            <p:txBody>
              <a:bodyPr vertOverflow="overflow" vert="horz" wrap="none" rtlCol="0" anchor="t">
                <a:spAutoFit/>
              </a:bodyPr>
              <a:lstStyle/>
              <a:p>
                <a:pPr algn="l"/>
                <a:r>
                  <a:rPr lang="en-IN" sz="1000" dirty="0">
                    <a:solidFill>
                      <a:schemeClr val="bg1"/>
                    </a:solidFill>
                    <a:latin typeface="Arial"/>
                    <a:cs typeface="Arial"/>
                  </a:rPr>
                  <a:t>195 Monthly Observations | 6 Data Sources | 5 Statistical Tests | 5 Original Visualisations</a:t>
                </a:r>
              </a:p>
            </p:txBody>
          </p:sp>
        </p:grpSp>
        <p:sp>
          <p:nvSpPr>
            <p:cNvPr id="13" name="TextBox 12">
              <a:extLst>
                <a:ext uri="{FF2B5EF4-FFF2-40B4-BE49-F238E27FC236}">
                  <a16:creationId xmlns:a16="http://schemas.microsoft.com/office/drawing/2014/main" id="{006D253E-A6C9-DC39-9898-0ED212411AFC}"/>
                </a:ext>
              </a:extLst>
            </p:cNvPr>
            <p:cNvSpPr txBox="1"/>
            <p:nvPr/>
          </p:nvSpPr>
          <p:spPr>
            <a:xfrm>
              <a:off x="0" y="10198955"/>
              <a:ext cx="3779675" cy="338554"/>
            </a:xfrm>
            <a:prstGeom prst="rect">
              <a:avLst/>
            </a:prstGeom>
            <a:noFill/>
          </p:spPr>
          <p:txBody>
            <a:bodyPr wrap="square" rtlCol="0">
              <a:spAutoFit/>
            </a:bodyPr>
            <a:lstStyle/>
            <a:p>
              <a:r>
                <a:rPr lang="en-IN" sz="800" dirty="0">
                  <a:solidFill>
                    <a:srgbClr val="AAAAAA"/>
                  </a:solidFill>
                  <a:latin typeface="Sans Serif Collection" panose="020B0502040504020204" pitchFamily="34" charset="0"/>
                  <a:ea typeface="Sans Serif Collection" panose="020B0502040504020204" pitchFamily="34" charset="0"/>
                  <a:cs typeface="Sans Serif Collection" panose="020B0502040504020204" pitchFamily="34" charset="0"/>
                </a:rPr>
                <a:t>Data Sources: World Gold Council · Federal Reserve FRED · US Energy Information Administration</a:t>
              </a:r>
            </a:p>
          </p:txBody>
        </p:sp>
      </p:grpSp>
    </p:spTree>
    <p:extLst>
      <p:ext uri="{BB962C8B-B14F-4D97-AF65-F5344CB8AC3E}">
        <p14:creationId xmlns:p14="http://schemas.microsoft.com/office/powerpoint/2010/main" val="767636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7FE3D7-FDAC-812A-B7A8-A46FD5E43987}"/>
              </a:ext>
            </a:extLst>
          </p:cNvPr>
          <p:cNvSpPr txBox="1"/>
          <p:nvPr/>
        </p:nvSpPr>
        <p:spPr>
          <a:xfrm>
            <a:off x="0" y="263614"/>
            <a:ext cx="7559675" cy="830997"/>
          </a:xfrm>
          <a:prstGeom prst="rect">
            <a:avLst/>
          </a:prstGeom>
          <a:noFill/>
        </p:spPr>
        <p:txBody>
          <a:bodyPr wrap="square" rtlCol="0">
            <a:spAutoFit/>
          </a:bodyPr>
          <a:lstStyle/>
          <a:p>
            <a:r>
              <a:rPr lang="en-IN" sz="2800" b="1" spc="3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THE WORLD THAT SHAPED GOLD</a:t>
            </a:r>
          </a:p>
          <a:p>
            <a:r>
              <a:rPr lang="en-IN" b="1" spc="3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A Decade of Crisis, Conflict &amp; Capital Flight</a:t>
            </a:r>
          </a:p>
        </p:txBody>
      </p:sp>
      <p:sp>
        <p:nvSpPr>
          <p:cNvPr id="4" name="TextBox 3">
            <a:extLst>
              <a:ext uri="{FF2B5EF4-FFF2-40B4-BE49-F238E27FC236}">
                <a16:creationId xmlns:a16="http://schemas.microsoft.com/office/drawing/2014/main" id="{5ECFDD67-1A9C-EFBD-71A2-07DFA038DFDF}"/>
              </a:ext>
            </a:extLst>
          </p:cNvPr>
          <p:cNvSpPr txBox="1"/>
          <p:nvPr/>
        </p:nvSpPr>
        <p:spPr>
          <a:xfrm>
            <a:off x="0" y="1519432"/>
            <a:ext cx="7559675" cy="8963992"/>
          </a:xfrm>
          <a:prstGeom prst="rect">
            <a:avLst/>
          </a:prstGeom>
          <a:noFill/>
        </p:spPr>
        <p:txBody>
          <a:bodyPr wrap="square" rtlCol="0">
            <a:spAutoFit/>
          </a:bodyPr>
          <a:lstStyle/>
          <a:p>
            <a:pPr>
              <a:spcAft>
                <a:spcPts val="1200"/>
              </a:spcAft>
            </a:pPr>
            <a:endParaRPr lang="en-IN" sz="12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spcAft>
                <a:spcPts val="1200"/>
              </a:spcAft>
            </a:pPr>
            <a:r>
              <a:rPr lang="en-IN" sz="12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does not move on spreadsheets. It moves when people lose faith in currencies, in governments, in the stability of the system they depend on. Each event below left a measurable mark on the data.</a:t>
            </a:r>
          </a:p>
          <a:p>
            <a:pPr>
              <a:spcAft>
                <a:spcPts val="1200"/>
              </a:spcAft>
            </a:pPr>
            <a:endPar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spcAft>
                <a:spcPts val="1200"/>
              </a:spcAft>
            </a:pPr>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2011 — AUGUST</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US DEBT CEILING CRISIS — THE BIGGEST MONTHLY MOVE IN 16 YEARS</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5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S&amp;P downgraded US sovereign debt for the first time in history. Gold rose 11.6% in a single month — the largest move in the entire dataset. Gold's greatest fear is not war. It is the collapse of trust in the reserve currency itself.</a:t>
            </a:r>
          </a:p>
          <a:p>
            <a:pPr>
              <a:spcAft>
                <a:spcPts val="1200"/>
              </a:spcAft>
            </a:pPr>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2013 — MAY TO JUNE</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FED TAPER TANTRUM — GOLD'S FIRST STRUCTURAL SHOCK</a:t>
            </a:r>
            <a:br>
              <a:rPr lang="en-IN" sz="11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5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Ben Bernanke hinted the Fed might slow bond purchases. Gold crashed 6.8% and fell 25% over the following year. For the first time, monetary policy expectations — not geopolitics — became gold's primary driver.</a:t>
            </a:r>
          </a:p>
          <a:p>
            <a:pPr>
              <a:spcAft>
                <a:spcPts val="1200"/>
              </a:spcAft>
            </a:pPr>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2016 — NOVEMBER</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TRUMP ELECTION — THE DOLLAR SURGE THAT BROKE THE SAFE-HAVEN TRADE</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5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Markets expected chaos. Instead, they got a dollar surge. Gold fell 6.0% as DXY jumped sharply. The dollar and gold compete for the same fear trade — and the dollar won that month.</a:t>
            </a:r>
          </a:p>
          <a:p>
            <a:pPr>
              <a:spcAft>
                <a:spcPts val="1200"/>
              </a:spcAft>
            </a:pPr>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2020 — MARCH</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COVID CRASH — WHEN EVEN GOLD WAS SOLD FOR CASH</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5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fell from $1,680 to $1,477 in two weeks as institutions sold everything liquid. By August, it surged to a then-ATH of $1,968 as the Fed pushed real rates to −1.19%. The crisis that should have been Gold’s finest hour nearly destroyed it first.</a:t>
            </a:r>
          </a:p>
          <a:p>
            <a:pPr>
              <a:spcAft>
                <a:spcPts val="1200"/>
              </a:spcAft>
            </a:pPr>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2022 — FEBRUARY</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RUSSIA INVADES UKRAINE — THE SPIKE THAT FADED</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5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spiked to $2,040 on the day of the invasion. Within three months, it had given back every gain. The Fed's 525 basis-point rate hikes overwhelmed the safe-haven bid completely.</a:t>
            </a:r>
          </a:p>
          <a:p>
            <a:pPr>
              <a:spcAft>
                <a:spcPts val="1200"/>
              </a:spcAft>
            </a:pPr>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2022 — MARCH TO DECEMBER</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FED HIKE CYCLE </a:t>
            </a:r>
            <a: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IN" sz="1200" b="1" dirty="0">
                <a:latin typeface="Sans Serif Collection" panose="020B0502040504020204" pitchFamily="34" charset="0"/>
                <a:ea typeface="Sans Serif Collection" panose="020B0502040504020204" pitchFamily="34" charset="0"/>
                <a:cs typeface="Sans Serif Collection" panose="020B0502040504020204" pitchFamily="34" charset="0"/>
              </a:rPr>
              <a:t>WHEN THEORY SAID GOLD SHOULD CRASH BUT DIDN'T</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5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Real rates went from −1.19% to +1.94%. Gold should have fallen to $1,200. Instead, it held above $1,800. China, India, Turkey and Poland were buying faster than Western investors were selling. A structural shift that the data captures precisely.</a:t>
            </a:r>
          </a:p>
          <a:p>
            <a:pPr>
              <a:spcAft>
                <a:spcPts val="1200"/>
              </a:spcAft>
            </a:pPr>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2024 TO 2025</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DE-DOLLARISATION SURGE — GOLD'S NEW DEMAND DRIVER</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5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Central banks bought gold at the fastest pace since the 1960s. After the freezing of Russian reserves proved dollar assets were a geopolitical weapon, BRICS nations accelerated de-dollarisation. Gold's average price reached $3,129 — 132% above Era 1 levels.</a:t>
            </a:r>
          </a:p>
          <a:p>
            <a:pPr>
              <a:spcAft>
                <a:spcPts val="1200"/>
              </a:spcAft>
            </a:pPr>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2026 — JANUARY TO MARCH</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IRAN-ISRAEL-USA CONFLICT — THE PARADOX THIS REPORT INVESTIGATES</a:t>
            </a: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5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hit an all-time high of $5,019 in February 2026. Six weeks later, with fighting intensifying, it had fallen to $3,900. The oil shock kept the Fed hawkish, strengthened the dollar, and pulled gold down. The conflict was simultaneously gold's biggest supporter and its biggest headwind.</a:t>
            </a:r>
            <a:endParaRPr lang="en-IN" sz="95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spcAft>
                <a:spcPts val="1200"/>
              </a:spcAft>
            </a:pPr>
            <a:br>
              <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rPr>
            </a:br>
            <a:endParaRPr lang="en-IN" sz="12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spcAft>
                <a:spcPts val="1200"/>
              </a:spcAft>
            </a:pPr>
            <a:endParaRPr lang="en-IN" sz="600" dirty="0">
              <a:solidFill>
                <a:srgbClr val="AAAAAA"/>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spcAft>
                <a:spcPts val="1200"/>
              </a:spcAft>
            </a:pPr>
            <a:endParaRPr lang="en-IN" sz="600" dirty="0">
              <a:solidFill>
                <a:srgbClr val="AAAAAA"/>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pPr>
              <a:spcAft>
                <a:spcPts val="1200"/>
              </a:spcAft>
            </a:pPr>
            <a:r>
              <a:rPr lang="en-IN" sz="600" dirty="0">
                <a:solidFill>
                  <a:srgbClr val="AAAAAA"/>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Author's analysis. World Gold Council, Federal Reserve FRED, EIA.</a:t>
            </a:r>
          </a:p>
        </p:txBody>
      </p:sp>
    </p:spTree>
    <p:extLst>
      <p:ext uri="{BB962C8B-B14F-4D97-AF65-F5344CB8AC3E}">
        <p14:creationId xmlns:p14="http://schemas.microsoft.com/office/powerpoint/2010/main" val="15409254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69E522-68AD-17E1-2560-D916CEEF60C6}"/>
              </a:ext>
            </a:extLst>
          </p:cNvPr>
          <p:cNvSpPr txBox="1"/>
          <p:nvPr/>
        </p:nvSpPr>
        <p:spPr>
          <a:xfrm>
            <a:off x="98854" y="270425"/>
            <a:ext cx="7331676" cy="738664"/>
          </a:xfrm>
          <a:prstGeom prst="rect">
            <a:avLst/>
          </a:prstGeom>
          <a:noFill/>
        </p:spPr>
        <p:txBody>
          <a:bodyPr wrap="square" rtlCol="0">
            <a:spAutoFit/>
          </a:bodyPr>
          <a:lstStyle/>
          <a:p>
            <a:r>
              <a:rPr lang="en-IN" sz="24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DATA AND METHODOLOGY</a:t>
            </a:r>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 </a:t>
            </a:r>
          </a:p>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How We Tested the Question</a:t>
            </a:r>
          </a:p>
        </p:txBody>
      </p:sp>
      <p:sp>
        <p:nvSpPr>
          <p:cNvPr id="5" name="TextBox 4">
            <a:extLst>
              <a:ext uri="{FF2B5EF4-FFF2-40B4-BE49-F238E27FC236}">
                <a16:creationId xmlns:a16="http://schemas.microsoft.com/office/drawing/2014/main" id="{B019B7BC-3F74-BB03-6C8A-C706CE7FE50A}"/>
              </a:ext>
            </a:extLst>
          </p:cNvPr>
          <p:cNvSpPr txBox="1"/>
          <p:nvPr/>
        </p:nvSpPr>
        <p:spPr>
          <a:xfrm>
            <a:off x="0" y="1141387"/>
            <a:ext cx="7559675" cy="9910405"/>
          </a:xfrm>
          <a:prstGeom prst="rect">
            <a:avLst/>
          </a:prstGeom>
          <a:noFill/>
        </p:spPr>
        <p:txBody>
          <a:bodyPr wrap="square" rtlCol="0">
            <a:spAutoFit/>
          </a:bodyPr>
          <a:lstStyle/>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THE RESEARCH QUESTION</a:t>
            </a:r>
          </a:p>
          <a:p>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Why does gold fall during active geopolitical conflict — specifically, the Iran-Israel-USA war of 2025 to 2026 — when every conventional framework predicts the opposite? This report does not offer an opinion. It offers 195 months of data, five statistical tests, and four structural era classifications that together answer the question precisely.</a:t>
            </a:r>
          </a:p>
          <a:p>
            <a:endPar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THE DATASET — SIX VARIABLES, 195 MONTHLY OBSERVATIONS</a:t>
            </a:r>
          </a:p>
          <a:p>
            <a:r>
              <a:rPr lang="en-IN" sz="10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A</a:t>
            </a: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ll data runs from January 2010 to March 2026. Daily data was converted to monthly averages. Central bank demand for quarterly figures was forward-filled across months within each quarter.</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Variable 1 — GOLD SPOT PRICE (USD per oz)</a:t>
            </a:r>
            <a:b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World Gold Council — LBMA PM Fix benchmark. The most authoritative gold price series used by institutional investors globally.</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Variable 2 — US DOLLAR INDEX (DXY)</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Federal Reserve FRED — Series DTWEXBGS. Tracks the dollar against a broad basket of currencies. The primary transmission channel between monetary policy and gold.</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Variable 3 — 10-YEAR REAL INTEREST RATE</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Federal Reserve FRED — Series DFII10. Treasury Inflation-Protected Securities yield. Measures the true cost of holding gold versus risk-free assets after inflation.</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Variable 4 — WTI CRUDE OIL (USD per barrel)</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US Energy Information Administration — Cushing, Oklahoma spot price. Included to test whether the Iranian oil shock directly or indirectly affects gold.</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Variable 5 — 10-YEAR INFLATION EXPECTATIONS</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Federal Reserve FRED — Series T10YIE. The 10-year breakeven inflation rate. Measures what bond markets expect inflation to be over the next decade.</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Variable 6 — CENTRAL BANK GOLD DEMAND (tonnes)</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World Gold Council </a:t>
            </a:r>
            <a:r>
              <a:rPr lang="en-IN" sz="900" dirty="0" err="1">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Goldhub</a:t>
            </a: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 — Quarterly net purchases. Captures the structural institutional bid that traditional macro models miss entirely.</a:t>
            </a:r>
          </a:p>
          <a:p>
            <a:endPar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THE FIVE STATISTICAL TESTS</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Test 1 — FULL PERIOD CORRELATION MATRIX</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Pearson correlation coefficients across all five variables. 195 observations. Establishes the baseline relationships and immediately reveals the first counterintuitive finding: gold and the dollar moved in the same direction over the full period.</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Test 2 — ERA BY ERA CORRELATION BREAKDOWN</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The same correlation analysis was run separately for each of the four structurally defined macro periods. This is where the real story lives. Aggregate numbers hide regime changes. Breaking them apart reveals exactly when and how each relationship changed.</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Test 3 — MULTIPLE LINEAR REGRESSION</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The gold price is the dependent variable. DXY, real rate, WTI oil, and inflation expectations as independent variables. Output: R-squared, adjusted R-squared, coefficients, standard errors, t-statistics, and p-values for each variable. Tells us which variables actually predict gold and which are statistical noise.</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Test 4 — ROLLING VOLATILITY ANALYSIS</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12-month rolling standard deviation of monthly gold returns using STDEV.S methodology. Maps periods of elevated price instability against the geopolitical event timeline to test whether conflict genuinely increases gold volatility.</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Test 5 — DESCRIPTIVE STATISTICS BY ERA</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Mean, maximum, and minimum for all variables across each of the four eras. Builds the structural transformation picture — showing how every variable evolved from Era 1 baseline through to the conflict period.</a:t>
            </a:r>
          </a:p>
          <a:p>
            <a:endPar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THE FOUR ERA FRAMEWORK</a:t>
            </a:r>
          </a:p>
          <a:p>
            <a:r>
              <a:rPr lang="en-IN" sz="1000" b="1" dirty="0">
                <a:latin typeface="Sans Serif Collection" panose="020B0502040504020204" pitchFamily="34" charset="0"/>
                <a:ea typeface="Sans Serif Collection" panose="020B0502040504020204" pitchFamily="34" charset="0"/>
                <a:cs typeface="Sans Serif Collection" panose="020B0502040504020204" pitchFamily="34" charset="0"/>
              </a:rPr>
              <a:t>Era 1 — PRE-COVID (January 2010 to February 2020) — 122 months</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Stable macro baseline. Textbook relationships hold. Gold is range-bound between $1,068 and $1,772.</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Era 2 — COVID RECOVERY (March 2020 to December 2021) — 22 months</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Negative real rates reach −1.19%. The dollar collapses. Gold surges to then-ATH $1,968.</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Era 3 — FED HIKE CYCLE (January 2022 to December 2023) — 24 months</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525 basis points of rate hikes. The fastest tightening in 40 years. Gold holds — because central banks buy what Western investors sell.</a:t>
            </a:r>
          </a:p>
          <a:p>
            <a:r>
              <a:rPr lang="en-IN" sz="10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Era 4 — BULL AND CONFLICT (January 2024 to March 2026) — 27 months</a:t>
            </a:r>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De-dollarisation demand drives gold to a new ATH of $5,019. Then the Iran conflict creates the </a:t>
            </a:r>
            <a:r>
              <a:rPr lang="en-IN" sz="900" dirty="0" err="1">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paradox,this</a:t>
            </a: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 report investigates.</a:t>
            </a:r>
          </a:p>
          <a:p>
            <a:endPar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TOOLS AND LIMITATIONS</a:t>
            </a:r>
          </a:p>
          <a:p>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All statistical tests were conducted in Microsoft Excel using the Data Analysis </a:t>
            </a:r>
            <a:r>
              <a:rPr lang="en-IN" sz="900" dirty="0" err="1">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ToolPak</a:t>
            </a: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 Visualisations were built in Tableau Public and exported as high-resolution PNG files.</a:t>
            </a:r>
          </a:p>
          <a:p>
            <a:r>
              <a:rPr lang="en-IN" sz="1000" b="1"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Limitation 1</a:t>
            </a:r>
            <a: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t>: </a:t>
            </a:r>
            <a:r>
              <a:rPr lang="en-IN" sz="900" dirty="0">
                <a:latin typeface="Sans Serif Collection" panose="020B0502040504020204" pitchFamily="34" charset="0"/>
                <a:ea typeface="Sans Serif Collection" panose="020B0502040504020204" pitchFamily="34" charset="0"/>
                <a:cs typeface="Sans Serif Collection" panose="020B0502040504020204" pitchFamily="34" charset="0"/>
              </a:rPr>
              <a:t>Monthly average prices smooth intra-month volatility. The March 2020 COVID crash — gold fell from $1,680 to $1,477 intra-month then recovered — appears muted in monthly data.</a:t>
            </a:r>
            <a:br>
              <a:rPr lang="en-IN" sz="9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000" b="1"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Limitation 2: </a:t>
            </a: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All correlations are Pearson linear coefficients and do not capture non-linear relationships.</a:t>
            </a:r>
            <a:b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000" b="1"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Limitation 3: </a:t>
            </a:r>
            <a:r>
              <a:rPr lang="en-IN" sz="9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R-squared of 0.40 indicates significant unexplained variance. The remaining 60% is driven by central bank buying decisions, ETF flows, and sentiment — all of which are structural features of the modern gold market, not model failures.</a:t>
            </a:r>
          </a:p>
          <a:p>
            <a:endPar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a:p>
            <a:br>
              <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7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World Gold Council (gold.org) · Federal Reserve FRED (fred.stlouisfed.org) · US Energy Information Administration (eia.gov)</a:t>
            </a:r>
          </a:p>
          <a:p>
            <a:endPar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1827818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AB1C45-7E02-4EE4-E6A2-B267A0E7560A}"/>
              </a:ext>
            </a:extLst>
          </p:cNvPr>
          <p:cNvSpPr txBox="1"/>
          <p:nvPr/>
        </p:nvSpPr>
        <p:spPr>
          <a:xfrm>
            <a:off x="0" y="164757"/>
            <a:ext cx="7559675" cy="861774"/>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FINDING 1: GOLD AND THE DOLLAR BROKE THEIR HISTORIC RELATIONSHIP</a:t>
            </a:r>
          </a:p>
          <a:p>
            <a:r>
              <a:rPr lang="en-IN" sz="1400"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rPr>
              <a:t>THE DOLLAR PARADOX</a:t>
            </a:r>
            <a:endParaRPr lang="en-IN" b="1"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8B5A4011-B4F7-7339-8652-795308010627}"/>
              </a:ext>
            </a:extLst>
          </p:cNvPr>
          <p:cNvSpPr txBox="1"/>
          <p:nvPr/>
        </p:nvSpPr>
        <p:spPr>
          <a:xfrm>
            <a:off x="0" y="1243916"/>
            <a:ext cx="7559675" cy="738664"/>
          </a:xfrm>
          <a:prstGeom prst="rect">
            <a:avLst/>
          </a:prstGeom>
          <a:noFill/>
        </p:spPr>
        <p:txBody>
          <a:bodyPr wrap="square" rtlCol="0">
            <a:spAutoFit/>
          </a:bodyPr>
          <a:lstStyle/>
          <a:p>
            <a:r>
              <a:rPr lang="en-IN" sz="1400" i="1"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The textbook says gold and the dollar move in opposite directions. Sixteen years of data says otherwise — the full-period correlation is +0.43. Here is why averaging four different eras into one number creates a misleading picture.</a:t>
            </a:r>
          </a:p>
        </p:txBody>
      </p:sp>
      <p:pic>
        <p:nvPicPr>
          <p:cNvPr id="5" name="Picture 4">
            <a:extLst>
              <a:ext uri="{FF2B5EF4-FFF2-40B4-BE49-F238E27FC236}">
                <a16:creationId xmlns:a16="http://schemas.microsoft.com/office/drawing/2014/main" id="{92FF1EB1-A1A6-CB0C-DB5C-06D94224C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50" y="2061898"/>
            <a:ext cx="7375787" cy="3625178"/>
          </a:xfrm>
          <a:prstGeom prst="rect">
            <a:avLst/>
          </a:prstGeom>
        </p:spPr>
      </p:pic>
      <p:sp>
        <p:nvSpPr>
          <p:cNvPr id="6" name="TextBox 5">
            <a:extLst>
              <a:ext uri="{FF2B5EF4-FFF2-40B4-BE49-F238E27FC236}">
                <a16:creationId xmlns:a16="http://schemas.microsoft.com/office/drawing/2014/main" id="{BAB14396-7B68-41A6-A659-0379BD0EFC40}"/>
              </a:ext>
            </a:extLst>
          </p:cNvPr>
          <p:cNvSpPr txBox="1"/>
          <p:nvPr/>
        </p:nvSpPr>
        <p:spPr>
          <a:xfrm>
            <a:off x="63500" y="5678842"/>
            <a:ext cx="7559675" cy="215444"/>
          </a:xfrm>
          <a:prstGeom prst="rect">
            <a:avLst/>
          </a:prstGeom>
          <a:noFill/>
        </p:spPr>
        <p:txBody>
          <a:bodyPr wrap="square" rtlCol="0">
            <a:spAutoFit/>
          </a:bodyPr>
          <a:lstStyle/>
          <a:p>
            <a:r>
              <a:rPr lang="en-IN" sz="80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Chart 1: Gold Price vs US Dollar Index (DXY) — January 2010 to March 2026. Source: Author's analysis using Tableau Public.</a:t>
            </a:r>
          </a:p>
        </p:txBody>
      </p:sp>
      <p:pic>
        <p:nvPicPr>
          <p:cNvPr id="13" name="Picture 12">
            <a:extLst>
              <a:ext uri="{FF2B5EF4-FFF2-40B4-BE49-F238E27FC236}">
                <a16:creationId xmlns:a16="http://schemas.microsoft.com/office/drawing/2014/main" id="{54E5E765-4A67-705E-7CA0-F77623BBD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626" y="6148469"/>
            <a:ext cx="6545564" cy="2034962"/>
          </a:xfrm>
          <a:prstGeom prst="rect">
            <a:avLst/>
          </a:prstGeom>
        </p:spPr>
      </p:pic>
      <p:sp>
        <p:nvSpPr>
          <p:cNvPr id="14" name="TextBox 13">
            <a:extLst>
              <a:ext uri="{FF2B5EF4-FFF2-40B4-BE49-F238E27FC236}">
                <a16:creationId xmlns:a16="http://schemas.microsoft.com/office/drawing/2014/main" id="{25194BD2-DAFB-29AF-BF6F-364FEE6D407E}"/>
              </a:ext>
            </a:extLst>
          </p:cNvPr>
          <p:cNvSpPr txBox="1"/>
          <p:nvPr/>
        </p:nvSpPr>
        <p:spPr>
          <a:xfrm>
            <a:off x="132233" y="7950377"/>
            <a:ext cx="7027899" cy="293786"/>
          </a:xfrm>
          <a:prstGeom prst="rect">
            <a:avLst/>
          </a:prstGeom>
          <a:noFill/>
        </p:spPr>
        <p:txBody>
          <a:bodyPr wrap="square" rtlCol="0">
            <a:spAutoFit/>
          </a:bodyPr>
          <a:lstStyle/>
          <a:p>
            <a:r>
              <a:rPr lang="en-IN" sz="75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Table 1: Pearson correlation matrix, n=195 monthly observations. </a:t>
            </a:r>
          </a:p>
          <a:p>
            <a:r>
              <a:rPr lang="en-IN" sz="75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Source: Excel Data Analysis </a:t>
            </a:r>
            <a:r>
              <a:rPr lang="en-IN" sz="750" i="1" dirty="0" err="1">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ToolPak|Master</a:t>
            </a:r>
            <a:r>
              <a:rPr lang="en-IN" sz="75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 Sheet</a:t>
            </a:r>
          </a:p>
        </p:txBody>
      </p:sp>
      <p:sp>
        <p:nvSpPr>
          <p:cNvPr id="15" name="TextBox 14">
            <a:extLst>
              <a:ext uri="{FF2B5EF4-FFF2-40B4-BE49-F238E27FC236}">
                <a16:creationId xmlns:a16="http://schemas.microsoft.com/office/drawing/2014/main" id="{99A12BD8-3C2C-C89F-1A45-FD846284799E}"/>
              </a:ext>
            </a:extLst>
          </p:cNvPr>
          <p:cNvSpPr txBox="1"/>
          <p:nvPr/>
        </p:nvSpPr>
        <p:spPr>
          <a:xfrm>
            <a:off x="0" y="8537384"/>
            <a:ext cx="7559675" cy="892552"/>
          </a:xfrm>
          <a:prstGeom prst="rect">
            <a:avLst/>
          </a:prstGeom>
          <a:noFill/>
        </p:spPr>
        <p:txBody>
          <a:bodyPr wrap="square" rtlCol="0">
            <a:spAutoFit/>
          </a:bodyPr>
          <a:lstStyle/>
          <a:p>
            <a:r>
              <a:rPr lang="en-IN" sz="13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Three things stand out: Gold vs Oil is nearly zero (+0.04) — oil does not move gold directly. Oil vs Inflation is the strongest pair in the matrix (+0.76) — oil moves gold only through the inflation channel. And both Gold vs DXY and Gold vs Real Rate are positive when theory predicts negative — a structural anomaly the era breakdown on the next slide explains in full.</a:t>
            </a:r>
          </a:p>
        </p:txBody>
      </p:sp>
    </p:spTree>
    <p:extLst>
      <p:ext uri="{BB962C8B-B14F-4D97-AF65-F5344CB8AC3E}">
        <p14:creationId xmlns:p14="http://schemas.microsoft.com/office/powerpoint/2010/main" val="3284109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651057-CEBC-1BFA-F281-94470DCDAC89}"/>
              </a:ext>
            </a:extLst>
          </p:cNvPr>
          <p:cNvSpPr txBox="1"/>
          <p:nvPr/>
        </p:nvSpPr>
        <p:spPr>
          <a:xfrm>
            <a:off x="0" y="148281"/>
            <a:ext cx="7559675" cy="600164"/>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FINDING 2: WHY AGGREGATE NUMBERS LIE — THE FOUR ERAS</a:t>
            </a:r>
          </a:p>
          <a:p>
            <a:r>
              <a:rPr lang="en-IN" sz="1500"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rPr>
              <a:t>THE REGIME SHIFT</a:t>
            </a:r>
            <a:endParaRPr lang="en-IN" sz="1500" b="1"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D36DFAB4-C9AC-0B94-42DA-7FF38C2A60E4}"/>
              </a:ext>
            </a:extLst>
          </p:cNvPr>
          <p:cNvSpPr txBox="1"/>
          <p:nvPr/>
        </p:nvSpPr>
        <p:spPr>
          <a:xfrm>
            <a:off x="0" y="1243916"/>
            <a:ext cx="7559675" cy="738664"/>
          </a:xfrm>
          <a:prstGeom prst="rect">
            <a:avLst/>
          </a:prstGeom>
          <a:noFill/>
        </p:spPr>
        <p:txBody>
          <a:bodyPr wrap="square" rtlCol="0">
            <a:spAutoFit/>
          </a:bodyPr>
          <a:lstStyle/>
          <a:p>
            <a:r>
              <a:rPr lang="en-IN" sz="1400" i="1"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A single 16-year correlation number is an average of four structurally different worlds. Break it apart by macro regime, and the story changes completely — especially during the Fed's fastest hiking cycle in 40 years.</a:t>
            </a:r>
          </a:p>
        </p:txBody>
      </p:sp>
      <p:pic>
        <p:nvPicPr>
          <p:cNvPr id="5" name="Picture 4">
            <a:extLst>
              <a:ext uri="{FF2B5EF4-FFF2-40B4-BE49-F238E27FC236}">
                <a16:creationId xmlns:a16="http://schemas.microsoft.com/office/drawing/2014/main" id="{540E17C8-E287-6084-2C70-FBB72B12C707}"/>
              </a:ext>
            </a:extLst>
          </p:cNvPr>
          <p:cNvPicPr>
            <a:picLocks noChangeAspect="1"/>
          </p:cNvPicPr>
          <p:nvPr/>
        </p:nvPicPr>
        <p:blipFill>
          <a:blip r:embed="rId2">
            <a:extLst>
              <a:ext uri="{28A0092B-C50C-407E-A947-70E740481C1C}">
                <a14:useLocalDpi xmlns:a14="http://schemas.microsoft.com/office/drawing/2010/main" val="0"/>
              </a:ext>
            </a:extLst>
          </a:blip>
          <a:srcRect r="10296"/>
          <a:stretch>
            <a:fillRect/>
          </a:stretch>
        </p:blipFill>
        <p:spPr>
          <a:xfrm>
            <a:off x="0" y="1982580"/>
            <a:ext cx="7559675" cy="4228750"/>
          </a:xfrm>
          <a:prstGeom prst="rect">
            <a:avLst/>
          </a:prstGeom>
        </p:spPr>
      </p:pic>
      <p:sp>
        <p:nvSpPr>
          <p:cNvPr id="6" name="TextBox 5">
            <a:extLst>
              <a:ext uri="{FF2B5EF4-FFF2-40B4-BE49-F238E27FC236}">
                <a16:creationId xmlns:a16="http://schemas.microsoft.com/office/drawing/2014/main" id="{A96A0B22-0EDA-13D1-224C-424D608B0E86}"/>
              </a:ext>
            </a:extLst>
          </p:cNvPr>
          <p:cNvSpPr txBox="1"/>
          <p:nvPr/>
        </p:nvSpPr>
        <p:spPr>
          <a:xfrm>
            <a:off x="41729" y="6295701"/>
            <a:ext cx="7559675" cy="215444"/>
          </a:xfrm>
          <a:prstGeom prst="rect">
            <a:avLst/>
          </a:prstGeom>
          <a:noFill/>
        </p:spPr>
        <p:txBody>
          <a:bodyPr wrap="square" rtlCol="0">
            <a:spAutoFit/>
          </a:bodyPr>
          <a:lstStyle/>
          <a:p>
            <a:r>
              <a:rPr lang="en-IN" sz="800" i="1" dirty="0">
                <a:solidFill>
                  <a:srgbClr val="AAAAAA"/>
                </a:solidFill>
                <a:latin typeface="Sans Serif Collection" panose="020B0502040504020204" pitchFamily="34" charset="0"/>
                <a:ea typeface="Sans Serif Collection" panose="020B0502040504020204" pitchFamily="34" charset="0"/>
                <a:cs typeface="Sans Serif Collection" panose="020B0502040504020204" pitchFamily="34" charset="0"/>
              </a:rPr>
              <a:t>Chart 2: Gold Correlation Heatmap Across Four Macro Eras. Red = negative, Blue = positive. Source: Author's analysis using Tableau Public</a:t>
            </a:r>
          </a:p>
        </p:txBody>
      </p:sp>
      <p:sp>
        <p:nvSpPr>
          <p:cNvPr id="7" name="TextBox 6">
            <a:extLst>
              <a:ext uri="{FF2B5EF4-FFF2-40B4-BE49-F238E27FC236}">
                <a16:creationId xmlns:a16="http://schemas.microsoft.com/office/drawing/2014/main" id="{BF7FF2F9-50E7-0CEE-40B4-D4146F261AB3}"/>
              </a:ext>
            </a:extLst>
          </p:cNvPr>
          <p:cNvSpPr txBox="1"/>
          <p:nvPr/>
        </p:nvSpPr>
        <p:spPr>
          <a:xfrm>
            <a:off x="41729" y="6618514"/>
            <a:ext cx="7454900" cy="3200876"/>
          </a:xfrm>
          <a:prstGeom prst="rect">
            <a:avLst/>
          </a:prstGeom>
          <a:noFill/>
        </p:spPr>
        <p:txBody>
          <a:bodyPr wrap="square" rtlCol="0">
            <a:spAutoFit/>
          </a:bodyPr>
          <a:lstStyle/>
          <a:p>
            <a:r>
              <a:rPr lang="en-IN" sz="1050" b="1" dirty="0">
                <a:latin typeface="Sans Serif Collection" panose="020B0502040504020204" pitchFamily="34" charset="0"/>
                <a:ea typeface="Sans Serif Collection" panose="020B0502040504020204" pitchFamily="34" charset="0"/>
                <a:cs typeface="Sans Serif Collection" panose="020B0502040504020204" pitchFamily="34" charset="0"/>
              </a:rPr>
              <a:t>ERA 1 — PRE-COVID (2010–2020): THE TEXTBOOK WORKS</a:t>
            </a:r>
            <a:br>
              <a:rPr lang="en-IN" sz="105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0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Every relationship behaves as theory predicts. Gold vs DXY at −0.46 and Gold vs Real Rate at −0.69 confirm the standard macro playbook — when the dollar strengthens, or real yields rise, gold falls. This is gold's "normal" behaviour, the baseline against which everything else in this study is measured.</a:t>
            </a:r>
          </a:p>
          <a:p>
            <a:r>
              <a:rPr lang="en-IN" sz="105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ERA 2 — COVID RECOVERY (2020–2021): THE RELATIONSHIP STRENGTHENS TO ITS LIMIT</a:t>
            </a:r>
            <a:br>
              <a:rPr lang="en-IN" sz="105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0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vs Real Rate reaches −0.78, the strongest reading anywhere in the dataset. Real rates collapsed to −1.19% as the Fed slashed rates to zero and launched unprecedented asset purchases. Gold responded exactly as theory predicts, surging to a then-record $1,968. This era is the purest confirmation of the traditional gold-rate relationship in the entire study.</a:t>
            </a:r>
          </a:p>
          <a:p>
            <a:r>
              <a:rPr lang="en-IN" sz="105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ERA 3 — FED HIKE CYCLE (2022–2023): THE RELATIONSHIP BREAKS — ★ KEY FINDING</a:t>
            </a:r>
            <a:br>
              <a:rPr lang="en-IN" sz="105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0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vs Real Rate flips to +0.19. Real rates surged from negative territory to +1.5% as the Fed delivered 525 basis points of hikes — the fastest tightening cycle since the early 1980s. Standard theory says gold should have collapsed toward $1,200. It did not. China, India, Turkey, and Poland were buying gold at a record pace specifically because the freezing of Russian central bank reserves had demonstrated that dollar-denominated assets carry geopolitical risk. For the first time in the modern data series, structural institutional demand overwhelmed the interest rate signal entirely.</a:t>
            </a:r>
            <a:endParaRPr lang="en-IN" sz="10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a:p>
            <a:r>
              <a:rPr lang="en-IN" sz="105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ERA 4 — BULL-CONFLICT (2024–2026): PARTIAL RECOVERY, NEW DECOUPLING</a:t>
            </a:r>
            <a:br>
              <a:rPr lang="en-IN" sz="1050" dirty="0">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0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vs Real Rate returns to negative territory at −0.24 but remains far weaker than the pre-2022 norm — confirming the relationship never fully recovered. Meanwhile, Gold vs Oil turns sharply negative at −0.49, the first time in the study these two assets moved in clearly opposite directions. When the Iran conflict pushed oil higher, gold fell — not because the relationship is direct, but because oil-driven inflation fear kept the Fed hawkish and the dollar strong.</a:t>
            </a:r>
          </a:p>
          <a:p>
            <a:endParaRPr lang="en-IN" sz="1000" dirty="0">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 name="TextBox 7">
            <a:extLst>
              <a:ext uri="{FF2B5EF4-FFF2-40B4-BE49-F238E27FC236}">
                <a16:creationId xmlns:a16="http://schemas.microsoft.com/office/drawing/2014/main" id="{AAC4B319-FE56-232A-1B07-CE55DC1C5690}"/>
              </a:ext>
            </a:extLst>
          </p:cNvPr>
          <p:cNvSpPr txBox="1"/>
          <p:nvPr/>
        </p:nvSpPr>
        <p:spPr>
          <a:xfrm>
            <a:off x="41729" y="9506857"/>
            <a:ext cx="7382328" cy="707886"/>
          </a:xfrm>
          <a:prstGeom prst="rect">
            <a:avLst/>
          </a:prstGeom>
          <a:noFill/>
        </p:spPr>
        <p:txBody>
          <a:bodyPr wrap="square" rtlCol="0">
            <a:spAutoFit/>
          </a:bodyPr>
          <a:lstStyle/>
          <a:p>
            <a:r>
              <a:rPr lang="en-IN" sz="1000" dirty="0">
                <a:solidFill>
                  <a:srgbClr val="D6A300"/>
                </a:solidFill>
                <a:latin typeface="Sans Serif Collection" panose="020B0502040504020204" pitchFamily="34" charset="0"/>
                <a:ea typeface="Sans Serif Collection" panose="020B0502040504020204" pitchFamily="34" charset="0"/>
                <a:cs typeface="Sans Serif Collection" panose="020B0502040504020204" pitchFamily="34" charset="0"/>
              </a:rPr>
              <a:t>What this era breakdown proves: gold's relationship with macro variables is not fixed — it is regime-dependent. Central bank structural demand, which barely existed as a market force before 2022, is now powerful enough to override the interest rate signal that drove gold for decades. Any forecast that ignores this structural shift will misread gold's behaviour going forward.</a:t>
            </a:r>
          </a:p>
        </p:txBody>
      </p:sp>
    </p:spTree>
    <p:extLst>
      <p:ext uri="{BB962C8B-B14F-4D97-AF65-F5344CB8AC3E}">
        <p14:creationId xmlns:p14="http://schemas.microsoft.com/office/powerpoint/2010/main" val="722987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D35AEF-9B60-70B2-D7BD-FC4D61325716}"/>
              </a:ext>
            </a:extLst>
          </p:cNvPr>
          <p:cNvSpPr txBox="1"/>
          <p:nvPr/>
        </p:nvSpPr>
        <p:spPr>
          <a:xfrm>
            <a:off x="57665" y="156519"/>
            <a:ext cx="7438767" cy="861774"/>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FINDING 3: REAL RATES WERE GOLD'S MASTER — UNTIL THEY WEREN’T</a:t>
            </a:r>
          </a:p>
          <a:p>
            <a:r>
              <a:rPr lang="en-IN" sz="1400"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rPr>
              <a:t>THE NEGATIVE RATE SURGE AND ITS LIMITS</a:t>
            </a:r>
            <a:endParaRPr lang="en-IN" sz="1400" b="1"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FA15077E-3482-825D-301F-9BCD2EDCD87A}"/>
              </a:ext>
            </a:extLst>
          </p:cNvPr>
          <p:cNvSpPr txBox="1"/>
          <p:nvPr/>
        </p:nvSpPr>
        <p:spPr>
          <a:xfrm>
            <a:off x="57665" y="1161535"/>
            <a:ext cx="7438767" cy="646331"/>
          </a:xfrm>
          <a:prstGeom prst="rect">
            <a:avLst/>
          </a:prstGeom>
          <a:noFill/>
        </p:spPr>
        <p:txBody>
          <a:bodyPr wrap="square" rtlCol="0">
            <a:spAutoFit/>
          </a:bodyPr>
          <a:lstStyle/>
          <a:p>
            <a:r>
              <a:rPr lang="en-IN" sz="1200" i="1"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Real interest rates measure the true cost of holding gold — an asset that pays no yield. For most of the last sixteen years, this single number explained more of gold's movement than anything else. Then in 2022, something changed.</a:t>
            </a:r>
          </a:p>
        </p:txBody>
      </p:sp>
      <p:pic>
        <p:nvPicPr>
          <p:cNvPr id="5" name="Picture 4">
            <a:extLst>
              <a:ext uri="{FF2B5EF4-FFF2-40B4-BE49-F238E27FC236}">
                <a16:creationId xmlns:a16="http://schemas.microsoft.com/office/drawing/2014/main" id="{065401C6-7115-615D-02D6-5671384C9D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665" y="1887428"/>
            <a:ext cx="7438767" cy="3316994"/>
          </a:xfrm>
          <a:prstGeom prst="rect">
            <a:avLst/>
          </a:prstGeom>
        </p:spPr>
      </p:pic>
      <p:sp>
        <p:nvSpPr>
          <p:cNvPr id="6" name="TextBox 5">
            <a:extLst>
              <a:ext uri="{FF2B5EF4-FFF2-40B4-BE49-F238E27FC236}">
                <a16:creationId xmlns:a16="http://schemas.microsoft.com/office/drawing/2014/main" id="{E7146F14-7F89-0DCE-1678-07DA8455A842}"/>
              </a:ext>
            </a:extLst>
          </p:cNvPr>
          <p:cNvSpPr txBox="1"/>
          <p:nvPr/>
        </p:nvSpPr>
        <p:spPr>
          <a:xfrm>
            <a:off x="0" y="5219025"/>
            <a:ext cx="7559675" cy="215444"/>
          </a:xfrm>
          <a:prstGeom prst="rect">
            <a:avLst/>
          </a:prstGeom>
          <a:noFill/>
        </p:spPr>
        <p:txBody>
          <a:bodyPr wrap="square" rtlCol="0">
            <a:spAutoFit/>
          </a:bodyPr>
          <a:lstStyle/>
          <a:p>
            <a:r>
              <a:rPr lang="en-IN" sz="800" i="1" dirty="0">
                <a:solidFill>
                  <a:srgbClr val="AAAAAA"/>
                </a:solidFill>
                <a:latin typeface="Sans Serif Collection" panose="020B0502040504020204" pitchFamily="34" charset="0"/>
                <a:ea typeface="Sans Serif Collection" panose="020B0502040504020204" pitchFamily="34" charset="0"/>
                <a:cs typeface="Sans Serif Collection" panose="020B0502040504020204" pitchFamily="34" charset="0"/>
              </a:rPr>
              <a:t>Chart 3: Gold Price vs 10-Year Real Interest Rate — January 2010 to March 2026. Dashed line marks zero. Source: Author's analysis using Tableau Public.</a:t>
            </a:r>
          </a:p>
        </p:txBody>
      </p:sp>
      <p:sp>
        <p:nvSpPr>
          <p:cNvPr id="7" name="TextBox 6">
            <a:extLst>
              <a:ext uri="{FF2B5EF4-FFF2-40B4-BE49-F238E27FC236}">
                <a16:creationId xmlns:a16="http://schemas.microsoft.com/office/drawing/2014/main" id="{BCDEA13D-5F4B-C51C-9520-8B281012179C}"/>
              </a:ext>
            </a:extLst>
          </p:cNvPr>
          <p:cNvSpPr txBox="1"/>
          <p:nvPr/>
        </p:nvSpPr>
        <p:spPr>
          <a:xfrm>
            <a:off x="57665" y="5434469"/>
            <a:ext cx="7364627" cy="1754326"/>
          </a:xfrm>
          <a:prstGeom prst="rect">
            <a:avLst/>
          </a:prstGeom>
          <a:noFill/>
        </p:spPr>
        <p:txBody>
          <a:bodyPr wrap="square" rtlCol="0">
            <a:spAutoFit/>
          </a:bodyPr>
          <a:lstStyle/>
          <a:p>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WHY REAL RATES MATTER TO GOLD</a:t>
            </a:r>
          </a:p>
          <a:p>
            <a:r>
              <a:rPr lang="en-IN" sz="12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pays no interest, dividends, or coupons. Holding it means giving up the return available elsewhere — government bonds, savings accounts, money market funds. When real interest rates are positive, that opportunity cost is real, and gold becomes less attractive relative to yield-bearing alternatives. When real rates turn negative — meaning bonds pay less than inflation erodes — the calculation reverses. Holding cash or bonds guarantees a loss in real terms. Gold, which cannot be debased, becomes the more rational choice. This is why the zero line on the chart above is the most important reference point in the entire analysis.</a:t>
            </a:r>
          </a:p>
          <a:p>
            <a:endParaRPr lang="en-IN" sz="12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8" name="TextBox 7">
            <a:extLst>
              <a:ext uri="{FF2B5EF4-FFF2-40B4-BE49-F238E27FC236}">
                <a16:creationId xmlns:a16="http://schemas.microsoft.com/office/drawing/2014/main" id="{E599A88D-C1E4-9485-88F6-B1E85A958DAF}"/>
              </a:ext>
            </a:extLst>
          </p:cNvPr>
          <p:cNvSpPr txBox="1"/>
          <p:nvPr/>
        </p:nvSpPr>
        <p:spPr>
          <a:xfrm>
            <a:off x="131805" y="7076303"/>
            <a:ext cx="7232822" cy="2292935"/>
          </a:xfrm>
          <a:prstGeom prst="rect">
            <a:avLst/>
          </a:prstGeom>
          <a:noFill/>
        </p:spPr>
        <p:txBody>
          <a:bodyPr wrap="square" rtlCol="0">
            <a:spAutoFit/>
          </a:bodyPr>
          <a:lstStyle/>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PHASE ONE: THE NEGATIVE RATE ERA (AUGUST 2011 – APRIL 2022)</a:t>
            </a:r>
            <a:br>
              <a:rPr lang="en-IN" sz="1100" dirty="0">
                <a:solidFill>
                  <a:srgbClr val="555555"/>
                </a:solidFill>
              </a:rPr>
            </a:br>
            <a:r>
              <a:rPr lang="en-IN" sz="1100" dirty="0">
                <a:solidFill>
                  <a:srgbClr val="555555"/>
                </a:solidFill>
              </a:rPr>
              <a:t>Real rates spent nearly eleven years below zero, troughing at −1.19% during the pandemic response. This sustained negative rate environment is the single longest period of "free money" relative to inflation in modern Federal Reserve history, and it coincides almost exactly with gold's structural rise from roughly $1,600 to its first all-time high above $2,000.</a:t>
            </a:r>
          </a:p>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PHASE TWO: THE RECKONING (APRIL 2022 – DECEMBER 2023)</a:t>
            </a:r>
            <a:br>
              <a:rPr lang="en-IN" sz="1100" dirty="0">
                <a:solidFill>
                  <a:srgbClr val="555555"/>
                </a:solidFill>
              </a:rPr>
            </a:br>
            <a:r>
              <a:rPr lang="en-IN" sz="1100" dirty="0">
                <a:solidFill>
                  <a:srgbClr val="555555"/>
                </a:solidFill>
              </a:rPr>
              <a:t>Real rates crossed back above zero for the first time in over a decade as the Fed delivered the fastest hiking cycle since the Volcker era. Real rates ultimately reached +1.94% — the highest level in this entire dataset. By every historical precedent, gold should have entered a multi-year bear market.</a:t>
            </a:r>
          </a:p>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PHASE THREE: THE PARADOX (2024 – MARCH 2026)</a:t>
            </a:r>
            <a:br>
              <a:rPr lang="en-IN" sz="1100" dirty="0">
                <a:solidFill>
                  <a:srgbClr val="555555"/>
                </a:solidFill>
              </a:rPr>
            </a:br>
            <a:r>
              <a:rPr lang="en-IN" sz="1100" dirty="0">
                <a:solidFill>
                  <a:srgbClr val="555555"/>
                </a:solidFill>
              </a:rPr>
              <a:t>Real rates remained elevated, never returning to negative territory. Yet gold did not fall — it surged to an all-time high of $5,019. This is the central puzzle this report set out to explain. The answer lies outside the rate mechanism entirely: structural central bank buying, accelerated by geopolitical de-dollarisation, created a demand floor that the traditional rate-driven model cannot capture.</a:t>
            </a:r>
          </a:p>
        </p:txBody>
      </p:sp>
      <p:sp>
        <p:nvSpPr>
          <p:cNvPr id="9" name="TextBox 8">
            <a:extLst>
              <a:ext uri="{FF2B5EF4-FFF2-40B4-BE49-F238E27FC236}">
                <a16:creationId xmlns:a16="http://schemas.microsoft.com/office/drawing/2014/main" id="{F5D0E50A-ADC5-5C42-3F71-8E1CAFFD1DED}"/>
              </a:ext>
            </a:extLst>
          </p:cNvPr>
          <p:cNvSpPr txBox="1"/>
          <p:nvPr/>
        </p:nvSpPr>
        <p:spPr>
          <a:xfrm>
            <a:off x="131805" y="9448800"/>
            <a:ext cx="7290487" cy="600164"/>
          </a:xfrm>
          <a:prstGeom prst="rect">
            <a:avLst/>
          </a:prstGeom>
          <a:noFill/>
        </p:spPr>
        <p:txBody>
          <a:bodyPr wrap="square" rtlCol="0">
            <a:spAutoFit/>
          </a:bodyPr>
          <a:lstStyle/>
          <a:p>
            <a:r>
              <a:rPr lang="en-IN" sz="1100" dirty="0">
                <a:solidFill>
                  <a:srgbClr val="D6A300"/>
                </a:solidFill>
                <a:latin typeface="Sans Serif Collection" panose="020B0502040504020204" pitchFamily="34" charset="0"/>
                <a:ea typeface="Sans Serif Collection" panose="020B0502040504020204" pitchFamily="34" charset="0"/>
                <a:cs typeface="Sans Serif Collection" panose="020B0502040504020204" pitchFamily="34" charset="0"/>
              </a:rPr>
              <a:t>The chart's right-hand section is the visual proof of this report's central thesis. Real rates stayed near two-decade highs throughout 2024–2026, yet gold rose anyway. A model built purely on interest rates would have missed the largest gold rally in this dataset.</a:t>
            </a:r>
          </a:p>
        </p:txBody>
      </p:sp>
    </p:spTree>
    <p:extLst>
      <p:ext uri="{BB962C8B-B14F-4D97-AF65-F5344CB8AC3E}">
        <p14:creationId xmlns:p14="http://schemas.microsoft.com/office/powerpoint/2010/main" val="3793894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4C541E-80F9-E18D-EAAE-B184F8FA9051}"/>
              </a:ext>
            </a:extLst>
          </p:cNvPr>
          <p:cNvSpPr txBox="1"/>
          <p:nvPr/>
        </p:nvSpPr>
        <p:spPr>
          <a:xfrm>
            <a:off x="0" y="108857"/>
            <a:ext cx="7489371" cy="846386"/>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FINDING 4: WHAT ACTUALLY PREDICTS GOLD — THE REGRESSION EVIDENCE</a:t>
            </a:r>
            <a:b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300" b="1"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rPr>
              <a:t>INFLATION EXPECTATIONS DOMINATE — OIL DOES NOT MATTER</a:t>
            </a:r>
          </a:p>
        </p:txBody>
      </p:sp>
      <p:sp>
        <p:nvSpPr>
          <p:cNvPr id="3" name="TextBox 2">
            <a:extLst>
              <a:ext uri="{FF2B5EF4-FFF2-40B4-BE49-F238E27FC236}">
                <a16:creationId xmlns:a16="http://schemas.microsoft.com/office/drawing/2014/main" id="{4D401A1B-7456-FB01-F72D-6105CAD560E9}"/>
              </a:ext>
            </a:extLst>
          </p:cNvPr>
          <p:cNvSpPr txBox="1"/>
          <p:nvPr/>
        </p:nvSpPr>
        <p:spPr>
          <a:xfrm>
            <a:off x="58057" y="1095829"/>
            <a:ext cx="7431314" cy="646331"/>
          </a:xfrm>
          <a:prstGeom prst="rect">
            <a:avLst/>
          </a:prstGeom>
          <a:noFill/>
        </p:spPr>
        <p:txBody>
          <a:bodyPr wrap="square" rtlCol="0">
            <a:spAutoFit/>
          </a:bodyPr>
          <a:lstStyle/>
          <a:p>
            <a:r>
              <a:rPr lang="en-IN" sz="1200" i="1"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Correlation shows that two variables move together. Regression asks a sharper question: holding everything else constant, how much does each variable independently move the price of gold? The answer reshapes the entire narrative around the Iran conflict.</a:t>
            </a:r>
          </a:p>
        </p:txBody>
      </p:sp>
      <p:pic>
        <p:nvPicPr>
          <p:cNvPr id="5" name="Picture 4">
            <a:extLst>
              <a:ext uri="{FF2B5EF4-FFF2-40B4-BE49-F238E27FC236}">
                <a16:creationId xmlns:a16="http://schemas.microsoft.com/office/drawing/2014/main" id="{D50B9995-6C0C-205D-49F2-A80EE6BB9B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997" y="1940802"/>
            <a:ext cx="7225974" cy="2914227"/>
          </a:xfrm>
          <a:prstGeom prst="rect">
            <a:avLst/>
          </a:prstGeom>
        </p:spPr>
      </p:pic>
      <p:sp>
        <p:nvSpPr>
          <p:cNvPr id="6" name="TextBox 5">
            <a:extLst>
              <a:ext uri="{FF2B5EF4-FFF2-40B4-BE49-F238E27FC236}">
                <a16:creationId xmlns:a16="http://schemas.microsoft.com/office/drawing/2014/main" id="{A2FF8301-80F4-1C71-6104-01D7215B1504}"/>
              </a:ext>
            </a:extLst>
          </p:cNvPr>
          <p:cNvSpPr txBox="1"/>
          <p:nvPr/>
        </p:nvSpPr>
        <p:spPr>
          <a:xfrm>
            <a:off x="58057" y="4978402"/>
            <a:ext cx="7489371" cy="261610"/>
          </a:xfrm>
          <a:prstGeom prst="rect">
            <a:avLst/>
          </a:prstGeom>
          <a:noFill/>
        </p:spPr>
        <p:txBody>
          <a:bodyPr wrap="square" rtlCol="0">
            <a:spAutoFit/>
          </a:bodyPr>
          <a:lstStyle/>
          <a:p>
            <a:r>
              <a:rPr lang="en-IN" sz="11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R² = 0.40 | Adjusted R² = 0.39 | F-Statistic = 31.98 | Significance F = 2.27 × 10⁻²⁰</a:t>
            </a:r>
          </a:p>
        </p:txBody>
      </p:sp>
      <p:sp>
        <p:nvSpPr>
          <p:cNvPr id="7" name="TextBox 6">
            <a:extLst>
              <a:ext uri="{FF2B5EF4-FFF2-40B4-BE49-F238E27FC236}">
                <a16:creationId xmlns:a16="http://schemas.microsoft.com/office/drawing/2014/main" id="{537BB7F1-FD62-25A7-7E12-A368F60B153F}"/>
              </a:ext>
            </a:extLst>
          </p:cNvPr>
          <p:cNvSpPr txBox="1"/>
          <p:nvPr/>
        </p:nvSpPr>
        <p:spPr>
          <a:xfrm>
            <a:off x="58057" y="5213607"/>
            <a:ext cx="7431314" cy="276999"/>
          </a:xfrm>
          <a:prstGeom prst="rect">
            <a:avLst/>
          </a:prstGeom>
          <a:noFill/>
        </p:spPr>
        <p:txBody>
          <a:bodyPr wrap="square" rtlCol="0">
            <a:spAutoFit/>
          </a:bodyPr>
          <a:lstStyle/>
          <a:p>
            <a:r>
              <a:rPr lang="en-IN" sz="1200" b="1" dirty="0">
                <a:solidFill>
                  <a:srgbClr val="D6A300"/>
                </a:solidFill>
                <a:latin typeface="Sans Serif Collection" panose="020B0502040504020204" pitchFamily="34" charset="0"/>
                <a:ea typeface="Sans Serif Collection" panose="020B0502040504020204" pitchFamily="34" charset="0"/>
                <a:cs typeface="Sans Serif Collection" panose="020B0502040504020204" pitchFamily="34" charset="0"/>
              </a:rPr>
              <a:t>Gold = −1,940.39 + 17.17(DXY) + 183.93(Real Rate) − 7.37(Oil WTI) + 1,062.55(Inflation Exp)</a:t>
            </a:r>
          </a:p>
        </p:txBody>
      </p:sp>
      <p:sp>
        <p:nvSpPr>
          <p:cNvPr id="8" name="TextBox 7">
            <a:extLst>
              <a:ext uri="{FF2B5EF4-FFF2-40B4-BE49-F238E27FC236}">
                <a16:creationId xmlns:a16="http://schemas.microsoft.com/office/drawing/2014/main" id="{A2B87080-F3D2-9FD9-517F-4C6C48E03DCA}"/>
              </a:ext>
            </a:extLst>
          </p:cNvPr>
          <p:cNvSpPr txBox="1"/>
          <p:nvPr/>
        </p:nvSpPr>
        <p:spPr>
          <a:xfrm>
            <a:off x="130629" y="7123106"/>
            <a:ext cx="7206342" cy="3077766"/>
          </a:xfrm>
          <a:prstGeom prst="rect">
            <a:avLst/>
          </a:prstGeom>
          <a:noFill/>
        </p:spPr>
        <p:txBody>
          <a:bodyPr wrap="square" rtlCol="0">
            <a:spAutoFit/>
          </a:bodyPr>
          <a:lstStyle/>
          <a:p>
            <a:r>
              <a:rPr lang="en-IN" sz="14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READING THE ANOVA TEST THROUGH A REAL EVENT</a:t>
            </a:r>
          </a:p>
          <a:p>
            <a: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Consider August 2011, the month gold rose 11.6 per cent in a single move — the largest in this entire dataset. A naive forecaster with no model would have predicted the month’s gold price based solely on the historical average and would have been wrong by a wide margin. The ANOVA test essentially asks: across all 195 months, does a model built on DXY, real rates, oil, and inflation expectations predict gold </a:t>
            </a:r>
            <a:r>
              <a:rPr lang="en-US"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more meaningfully than a naive average would</a:t>
            </a:r>
            <a: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 The answer, captured in the Regression Sum of Squares of 38.4 million against a Residual of 57 million, is yes — but not completely. The model explains roughly 40 </a:t>
            </a:r>
            <a:r>
              <a:rPr lang="en-US"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per cent of the variation across the full period, leaving 60 per cent</a:t>
            </a:r>
            <a: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 to forces it does not capture, among them the debt ceiling panic that drove August 2011's spike and the central bank buying that drove 2022 through 2026. The F-statistic of 31.98, with a Significance F of 2.27 times 10 to the negative 20, confirms that this 40 per cent is not a statistical accident — it would be virtually impossible to observe this level of explanatory power if the four variables had no real relationship with gold. The ANOVA test, in other words, does not tell us the model captures everything that moves gold. It tells us, with near certainty, that what it does capture is real.</a:t>
            </a:r>
          </a:p>
          <a:p>
            <a:endPar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10" name="TextBox 9">
            <a:extLst>
              <a:ext uri="{FF2B5EF4-FFF2-40B4-BE49-F238E27FC236}">
                <a16:creationId xmlns:a16="http://schemas.microsoft.com/office/drawing/2014/main" id="{04D025D1-3D49-9FBD-F538-44935C2A386B}"/>
              </a:ext>
            </a:extLst>
          </p:cNvPr>
          <p:cNvSpPr txBox="1"/>
          <p:nvPr/>
        </p:nvSpPr>
        <p:spPr>
          <a:xfrm>
            <a:off x="130629" y="5503754"/>
            <a:ext cx="7264400" cy="1600438"/>
          </a:xfrm>
          <a:prstGeom prst="rect">
            <a:avLst/>
          </a:prstGeom>
          <a:noFill/>
        </p:spPr>
        <p:txBody>
          <a:bodyPr wrap="square" rtlCol="0">
            <a:spAutoFit/>
          </a:bodyPr>
          <a:lstStyle/>
          <a:p>
            <a:r>
              <a:rPr lang="en-IN" sz="14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KEY FINDINGS:</a:t>
            </a:r>
          </a:p>
          <a:p>
            <a:pPr marL="171450" indent="-171450">
              <a:buFont typeface="Arial" panose="020B0604020202020204" pitchFamily="34" charset="0"/>
              <a:buChar char="•"/>
            </a:pPr>
            <a: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INFLATION_EXP is the dominant predictor (</a:t>
            </a:r>
            <a:r>
              <a:rPr lang="en-IN" sz="1200" dirty="0" err="1">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coeff</a:t>
            </a:r>
            <a: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 +1063, p&lt;0.001)</a:t>
            </a:r>
          </a:p>
          <a:p>
            <a:pPr marL="171450" indent="-171450">
              <a:buFont typeface="Arial" panose="020B0604020202020204" pitchFamily="34" charset="0"/>
              <a:buChar char="•"/>
            </a:pPr>
            <a: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OIL_WTI is NOT statistically significant (p=0.07) — oil drives gold  only through the inflation expectations channel, not directly</a:t>
            </a:r>
          </a:p>
          <a:p>
            <a:pPr marL="171450" indent="-171450">
              <a:buFont typeface="Arial" panose="020B0604020202020204" pitchFamily="34" charset="0"/>
              <a:buChar char="•"/>
            </a:pPr>
            <a: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Positive DXY and REAL_RATE coefficients confirm structural break — traditional inverse relationships reversed over 2022–2026</a:t>
            </a:r>
          </a:p>
          <a:p>
            <a:pPr marL="171450" indent="-171450">
              <a:buFont typeface="Arial" panose="020B0604020202020204" pitchFamily="34" charset="0"/>
              <a:buChar char="•"/>
            </a:pPr>
            <a: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R²=0.40: 60% of gold movement driven by non-macro factors (central bank buying, ETF flows, de-dollarisation demand)</a:t>
            </a:r>
          </a:p>
        </p:txBody>
      </p:sp>
    </p:spTree>
    <p:extLst>
      <p:ext uri="{BB962C8B-B14F-4D97-AF65-F5344CB8AC3E}">
        <p14:creationId xmlns:p14="http://schemas.microsoft.com/office/powerpoint/2010/main" val="2120739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4DCA28-6F40-7F8F-3B7B-ED1106A81075}"/>
              </a:ext>
            </a:extLst>
          </p:cNvPr>
          <p:cNvSpPr txBox="1"/>
          <p:nvPr/>
        </p:nvSpPr>
        <p:spPr>
          <a:xfrm>
            <a:off x="0" y="116114"/>
            <a:ext cx="7559675" cy="861774"/>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FINDING 5: GOLD'S STRUCTURAL FLOOR — RISING EVERY SINGLE ERA</a:t>
            </a:r>
          </a:p>
          <a:p>
            <a:r>
              <a:rPr lang="en-IN" sz="1400" b="1"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rPr>
              <a:t>THE COMPLETE MACRO PICTURE, 2010 TO 2026</a:t>
            </a:r>
          </a:p>
        </p:txBody>
      </p:sp>
      <p:sp>
        <p:nvSpPr>
          <p:cNvPr id="3" name="TextBox 2">
            <a:extLst>
              <a:ext uri="{FF2B5EF4-FFF2-40B4-BE49-F238E27FC236}">
                <a16:creationId xmlns:a16="http://schemas.microsoft.com/office/drawing/2014/main" id="{48F2EB8D-640A-4409-4545-FB7137D3652A}"/>
              </a:ext>
            </a:extLst>
          </p:cNvPr>
          <p:cNvSpPr txBox="1"/>
          <p:nvPr/>
        </p:nvSpPr>
        <p:spPr>
          <a:xfrm>
            <a:off x="58057" y="1095829"/>
            <a:ext cx="7358743" cy="600164"/>
          </a:xfrm>
          <a:prstGeom prst="rect">
            <a:avLst/>
          </a:prstGeom>
          <a:noFill/>
        </p:spPr>
        <p:txBody>
          <a:bodyPr wrap="square" rtlCol="0">
            <a:spAutoFit/>
          </a:bodyPr>
          <a:lstStyle/>
          <a:p>
            <a:r>
              <a:rPr lang="en-IN" sz="110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Individual correlations tell you how variables move together. This slide steps back to show the complete transformation — how gold's average price, its floor, its ceiling, and every variable around it evolved across sixteen years and four distinct regimes.</a:t>
            </a:r>
          </a:p>
        </p:txBody>
      </p:sp>
      <p:pic>
        <p:nvPicPr>
          <p:cNvPr id="5" name="Picture 4">
            <a:extLst>
              <a:ext uri="{FF2B5EF4-FFF2-40B4-BE49-F238E27FC236}">
                <a16:creationId xmlns:a16="http://schemas.microsoft.com/office/drawing/2014/main" id="{D4A7F10D-D409-0ACB-4249-83586E5C0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57" y="1695993"/>
            <a:ext cx="7443561" cy="3387486"/>
          </a:xfrm>
          <a:prstGeom prst="rect">
            <a:avLst/>
          </a:prstGeom>
        </p:spPr>
      </p:pic>
      <p:pic>
        <p:nvPicPr>
          <p:cNvPr id="7" name="Picture 6">
            <a:extLst>
              <a:ext uri="{FF2B5EF4-FFF2-40B4-BE49-F238E27FC236}">
                <a16:creationId xmlns:a16="http://schemas.microsoft.com/office/drawing/2014/main" id="{5493A2E8-34E4-3D40-5E37-5ECB88CEA4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57" y="5279422"/>
            <a:ext cx="7284157" cy="1411664"/>
          </a:xfrm>
          <a:prstGeom prst="rect">
            <a:avLst/>
          </a:prstGeom>
        </p:spPr>
      </p:pic>
      <p:sp>
        <p:nvSpPr>
          <p:cNvPr id="8" name="TextBox 7">
            <a:extLst>
              <a:ext uri="{FF2B5EF4-FFF2-40B4-BE49-F238E27FC236}">
                <a16:creationId xmlns:a16="http://schemas.microsoft.com/office/drawing/2014/main" id="{F27CB45D-2BEC-59D0-6A2E-2F04350A5580}"/>
              </a:ext>
            </a:extLst>
          </p:cNvPr>
          <p:cNvSpPr txBox="1"/>
          <p:nvPr/>
        </p:nvSpPr>
        <p:spPr>
          <a:xfrm>
            <a:off x="101600" y="6821712"/>
            <a:ext cx="7284157" cy="1446550"/>
          </a:xfrm>
          <a:prstGeom prst="rect">
            <a:avLst/>
          </a:prstGeom>
          <a:noFill/>
        </p:spPr>
        <p:txBody>
          <a:bodyPr wrap="square" rtlCol="0">
            <a:spAutoFit/>
          </a:bodyPr>
          <a:lstStyle/>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THE FLOOR THAT NEVER FELL BACK</a:t>
            </a:r>
          </a:p>
          <a:p>
            <a:r>
              <a:rPr lang="en-IN" sz="11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The most quietly important number in this entire study is the minimum gold price by era. It rose without exception — from $1,068 in Era 1, to $1,592 in Era 2, to $1,664 in Era 3, to $2,023 in Era 4. This means every single correction across sixteen years found buyers at a higher floor than the previous cycle's low point. Even at the worst moment of the 2026 Iran conflict crash, gold never traded below $2,023 — a level that would have represented an all-time high as recently as 2020. This is not noise. It is the signature of structural, price-insensitive demand — chiefly central bank accumulation — that did not exist in this market before 2020 and shows no sign of disappearing.</a:t>
            </a:r>
          </a:p>
        </p:txBody>
      </p:sp>
      <p:sp>
        <p:nvSpPr>
          <p:cNvPr id="9" name="TextBox 8">
            <a:extLst>
              <a:ext uri="{FF2B5EF4-FFF2-40B4-BE49-F238E27FC236}">
                <a16:creationId xmlns:a16="http://schemas.microsoft.com/office/drawing/2014/main" id="{F11045CD-9D7C-8071-03C2-4501399F2710}"/>
              </a:ext>
            </a:extLst>
          </p:cNvPr>
          <p:cNvSpPr txBox="1"/>
          <p:nvPr/>
        </p:nvSpPr>
        <p:spPr>
          <a:xfrm>
            <a:off x="166914" y="9601197"/>
            <a:ext cx="7112000" cy="600164"/>
          </a:xfrm>
          <a:prstGeom prst="rect">
            <a:avLst/>
          </a:prstGeom>
          <a:noFill/>
        </p:spPr>
        <p:txBody>
          <a:bodyPr wrap="square" rtlCol="0">
            <a:spAutoFit/>
          </a:bodyPr>
          <a:lstStyle/>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This table is the data's own summary of the report: gold's price floor rose every era, the dollar strengthened rather than weakened, real rates swung from negative to the highest level in the dataset — and gold still rose 132 percent. No single variable explains this. Structural demand does.</a:t>
            </a:r>
          </a:p>
        </p:txBody>
      </p:sp>
      <p:sp>
        <p:nvSpPr>
          <p:cNvPr id="10" name="TextBox 9">
            <a:extLst>
              <a:ext uri="{FF2B5EF4-FFF2-40B4-BE49-F238E27FC236}">
                <a16:creationId xmlns:a16="http://schemas.microsoft.com/office/drawing/2014/main" id="{8D9BAB87-2E36-1937-152A-EB3978EB694D}"/>
              </a:ext>
            </a:extLst>
          </p:cNvPr>
          <p:cNvSpPr txBox="1"/>
          <p:nvPr/>
        </p:nvSpPr>
        <p:spPr>
          <a:xfrm>
            <a:off x="108857" y="8355347"/>
            <a:ext cx="7233357" cy="1277273"/>
          </a:xfrm>
          <a:prstGeom prst="rect">
            <a:avLst/>
          </a:prstGeom>
          <a:noFill/>
        </p:spPr>
        <p:txBody>
          <a:bodyPr wrap="square" rtlCol="0">
            <a:spAutoFit/>
          </a:bodyPr>
          <a:lstStyle/>
          <a:p>
            <a:r>
              <a:rPr lang="en-IN" sz="11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A SECOND ANOMALY: THE DOLLAR ROSE TOO</a:t>
            </a:r>
          </a:p>
          <a:p>
            <a:r>
              <a:rPr lang="en-IN" sz="11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DXY's mean rose from 102.59 in Era 1 to 122.41 in Era 4 — the dollar index gained nearly 20 points across the study period. Under the textbook model, this alone should have suppressed gold significantly. Instead gold's mean rose 132 percent over the same span. Both the world's reserve currency and the asset meant to hedge against it strengthened together — direct evidence, drawn from averages rather than correlations, that the relationship this report set out to investigate has fundamentally changed.</a:t>
            </a:r>
          </a:p>
          <a:p>
            <a:endParaRPr lang="en-IN" sz="11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Tree>
    <p:extLst>
      <p:ext uri="{BB962C8B-B14F-4D97-AF65-F5344CB8AC3E}">
        <p14:creationId xmlns:p14="http://schemas.microsoft.com/office/powerpoint/2010/main" val="2193079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12066F1-B907-2B21-FBBE-16E42A05ED94}"/>
              </a:ext>
            </a:extLst>
          </p:cNvPr>
          <p:cNvSpPr txBox="1"/>
          <p:nvPr/>
        </p:nvSpPr>
        <p:spPr>
          <a:xfrm>
            <a:off x="95250" y="142875"/>
            <a:ext cx="7324725" cy="877163"/>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FINDING 6: WHAT ACTUALLY MOVES GOLD — THE BIGGEST MONTHLY MOVES</a:t>
            </a:r>
            <a:br>
              <a:rPr lang="en-IN" sz="1500"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400" b="1"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rPr>
              <a:t>FISCAL CREDIBILITY MATTERS MORE THAN WAR</a:t>
            </a:r>
            <a:endParaRPr lang="en-IN" sz="1500" b="1"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3" name="TextBox 2">
            <a:extLst>
              <a:ext uri="{FF2B5EF4-FFF2-40B4-BE49-F238E27FC236}">
                <a16:creationId xmlns:a16="http://schemas.microsoft.com/office/drawing/2014/main" id="{D0AD4259-3188-ABAB-9C05-98865C5F4D7D}"/>
              </a:ext>
            </a:extLst>
          </p:cNvPr>
          <p:cNvSpPr txBox="1"/>
          <p:nvPr/>
        </p:nvSpPr>
        <p:spPr>
          <a:xfrm>
            <a:off x="47625" y="1181100"/>
            <a:ext cx="7372350" cy="646331"/>
          </a:xfrm>
          <a:prstGeom prst="rect">
            <a:avLst/>
          </a:prstGeom>
          <a:noFill/>
        </p:spPr>
        <p:txBody>
          <a:bodyPr wrap="square" rtlCol="0">
            <a:spAutoFit/>
          </a:bodyPr>
          <a:lstStyle/>
          <a:p>
            <a:r>
              <a:rPr lang="en-IN" sz="120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The largest single monthly move in sixteen years of gold data was not triggered by a war, a pandemic, or an oil shock. It was triggered by the United States nearly defaulting on its own debt. That single fact reframes everything about how gold responds to geopolitical events.</a:t>
            </a:r>
          </a:p>
        </p:txBody>
      </p:sp>
      <p:pic>
        <p:nvPicPr>
          <p:cNvPr id="5" name="Picture 4">
            <a:extLst>
              <a:ext uri="{FF2B5EF4-FFF2-40B4-BE49-F238E27FC236}">
                <a16:creationId xmlns:a16="http://schemas.microsoft.com/office/drawing/2014/main" id="{B6F8FC41-6DF9-DDDF-BEC0-8DA35DD3CABA}"/>
              </a:ext>
            </a:extLst>
          </p:cNvPr>
          <p:cNvPicPr>
            <a:picLocks noChangeAspect="1"/>
          </p:cNvPicPr>
          <p:nvPr/>
        </p:nvPicPr>
        <p:blipFill>
          <a:blip r:embed="rId2">
            <a:extLst>
              <a:ext uri="{28A0092B-C50C-407E-A947-70E740481C1C}">
                <a14:useLocalDpi xmlns:a14="http://schemas.microsoft.com/office/drawing/2010/main" val="0"/>
              </a:ext>
            </a:extLst>
          </a:blip>
          <a:srcRect r="10542"/>
          <a:stretch>
            <a:fillRect/>
          </a:stretch>
        </p:blipFill>
        <p:spPr>
          <a:xfrm>
            <a:off x="1" y="1860469"/>
            <a:ext cx="7559674" cy="3711656"/>
          </a:xfrm>
          <a:prstGeom prst="rect">
            <a:avLst/>
          </a:prstGeom>
        </p:spPr>
      </p:pic>
      <p:sp>
        <p:nvSpPr>
          <p:cNvPr id="6" name="TextBox 5">
            <a:extLst>
              <a:ext uri="{FF2B5EF4-FFF2-40B4-BE49-F238E27FC236}">
                <a16:creationId xmlns:a16="http://schemas.microsoft.com/office/drawing/2014/main" id="{44389C17-5303-2333-61C9-1E11F10E2E8E}"/>
              </a:ext>
            </a:extLst>
          </p:cNvPr>
          <p:cNvSpPr txBox="1"/>
          <p:nvPr/>
        </p:nvSpPr>
        <p:spPr>
          <a:xfrm>
            <a:off x="95250" y="5945868"/>
            <a:ext cx="7205436" cy="2308324"/>
          </a:xfrm>
          <a:prstGeom prst="rect">
            <a:avLst/>
          </a:prstGeom>
          <a:noFill/>
        </p:spPr>
        <p:txBody>
          <a:bodyPr wrap="square" rtlCol="0">
            <a:spAutoFit/>
          </a:bodyPr>
          <a:lstStyle/>
          <a:p>
            <a:r>
              <a:rPr lang="en-IN" sz="1200" b="1" dirty="0">
                <a:solidFill>
                  <a:srgbClr val="444444"/>
                </a:solidFill>
                <a:latin typeface="Sans Serif Collection" panose="020B0502040504020204" pitchFamily="34" charset="0"/>
                <a:ea typeface="Sans Serif Collection" panose="020B0502040504020204" pitchFamily="34" charset="0"/>
                <a:cs typeface="Sans Serif Collection" panose="020B0502040504020204" pitchFamily="34" charset="0"/>
              </a:rPr>
              <a:t>WHAT THE BIGGEST MOVES TELL US</a:t>
            </a:r>
          </a:p>
          <a:p>
            <a:r>
              <a:rPr lang="en-IN" sz="1200" dirty="0">
                <a:solidFill>
                  <a:srgbClr val="444444"/>
                </a:solidFill>
                <a:latin typeface="Sans Serif Collection" panose="020B0502040504020204" pitchFamily="34" charset="0"/>
                <a:ea typeface="Sans Serif Collection" panose="020B0502040504020204" pitchFamily="34" charset="0"/>
                <a:cs typeface="Sans Serif Collection" panose="020B0502040504020204" pitchFamily="34" charset="0"/>
              </a:rPr>
              <a:t>Six of the ten largest positive monthly moves occurred in Era 4 (2024–2026), confirming that gold became structurally more active as de-dollarisation and geopolitical tension intensified. But the single largest move — August 2011 at +11.6 per cent — predates all of it. Standard and Poor's downgraded US sovereign debt, Congress came within days of default, and gold responded with the kind of move normally associated with an existential crisis. The lesson is precise: gold does not react to conflict alone. It reacts to threats against the monetary architecture that conflict exposes. The Iran war created uncertainty. The uncertainty raised the spectre of sustained inflation, Fed inaction, and dollar weakness. When those fears crystallised in January 2026, gold rose 10.6 per cent. When the Fed's response made clear those fears were being contained, gold fell. The conflict did not change. The monetary policy signal did.</a:t>
            </a:r>
          </a:p>
          <a:p>
            <a:endParaRPr lang="en-IN" sz="1200" dirty="0">
              <a:solidFill>
                <a:srgbClr val="444444"/>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7" name="TextBox 6">
            <a:extLst>
              <a:ext uri="{FF2B5EF4-FFF2-40B4-BE49-F238E27FC236}">
                <a16:creationId xmlns:a16="http://schemas.microsoft.com/office/drawing/2014/main" id="{65C44332-8E97-9C7F-FF62-AEDFE8BE804D}"/>
              </a:ext>
            </a:extLst>
          </p:cNvPr>
          <p:cNvSpPr txBox="1"/>
          <p:nvPr/>
        </p:nvSpPr>
        <p:spPr>
          <a:xfrm>
            <a:off x="95250" y="8287657"/>
            <a:ext cx="7205436" cy="1169551"/>
          </a:xfrm>
          <a:prstGeom prst="rect">
            <a:avLst/>
          </a:prstGeom>
          <a:solidFill>
            <a:schemeClr val="accent6">
              <a:lumMod val="20000"/>
              <a:lumOff val="80000"/>
              <a:alpha val="5098"/>
            </a:schemeClr>
          </a:solidFill>
        </p:spPr>
        <p:txBody>
          <a:bodyPr wrap="square" rtlCol="0">
            <a:spAutoFit/>
          </a:bodyPr>
          <a:lstStyle/>
          <a:p>
            <a:r>
              <a:rPr lang="en-IN" sz="14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This chart is the report's final exhibit. It shows that gold's largest moves are not random responses to headlines — they follow a consistent logic: threats to dollar credibility and monetary stability move gold more than any geopolitical event alone. The Iran conflict of 2026 is not an exception to this rule. It is its most recent confirmation.</a:t>
            </a:r>
          </a:p>
        </p:txBody>
      </p:sp>
    </p:spTree>
    <p:extLst>
      <p:ext uri="{BB962C8B-B14F-4D97-AF65-F5344CB8AC3E}">
        <p14:creationId xmlns:p14="http://schemas.microsoft.com/office/powerpoint/2010/main" val="336773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2C8CE4-AB6C-E444-0901-C7590F07D7EC}"/>
              </a:ext>
            </a:extLst>
          </p:cNvPr>
          <p:cNvSpPr txBox="1"/>
          <p:nvPr/>
        </p:nvSpPr>
        <p:spPr>
          <a:xfrm>
            <a:off x="-74141" y="107091"/>
            <a:ext cx="7545860" cy="600164"/>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CONCLUSION: ANSWERING THE ORIGINAL QUESTION</a:t>
            </a:r>
          </a:p>
          <a:p>
            <a:r>
              <a:rPr lang="en-IN" sz="1500" b="1" dirty="0">
                <a:solidFill>
                  <a:srgbClr val="CCCCCC"/>
                </a:solidFill>
                <a:latin typeface="Sans Serif Collection" panose="020B0502040504020204" pitchFamily="34" charset="0"/>
                <a:ea typeface="Sans Serif Collection" panose="020B0502040504020204" pitchFamily="34" charset="0"/>
                <a:cs typeface="Sans Serif Collection" panose="020B0502040504020204" pitchFamily="34" charset="0"/>
              </a:rPr>
              <a:t>THREE STRUCTURAL SHIFTS AND WHAT THEY MEAN FOR GOLD IN 2026</a:t>
            </a:r>
          </a:p>
        </p:txBody>
      </p:sp>
      <p:sp>
        <p:nvSpPr>
          <p:cNvPr id="3" name="TextBox 2">
            <a:extLst>
              <a:ext uri="{FF2B5EF4-FFF2-40B4-BE49-F238E27FC236}">
                <a16:creationId xmlns:a16="http://schemas.microsoft.com/office/drawing/2014/main" id="{412AB6DC-A8A6-960D-D2B9-F193ABDF6F37}"/>
              </a:ext>
            </a:extLst>
          </p:cNvPr>
          <p:cNvSpPr txBox="1"/>
          <p:nvPr/>
        </p:nvSpPr>
        <p:spPr>
          <a:xfrm>
            <a:off x="74141" y="1120346"/>
            <a:ext cx="7397578" cy="830997"/>
          </a:xfrm>
          <a:prstGeom prst="rect">
            <a:avLst/>
          </a:prstGeom>
          <a:noFill/>
        </p:spPr>
        <p:txBody>
          <a:bodyPr wrap="square" rtlCol="0">
            <a:spAutoFit/>
          </a:bodyPr>
          <a:lstStyle/>
          <a:p>
            <a:r>
              <a:rPr lang="en-IN" sz="1200" i="1"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In February 2026, gold hit an all-time high of $5,019. Six weeks later, with the Iran-Israel-USA conflict intensifying, it had fallen 22 percent. This report set out to answer one question: why does gold fall during geopolitical crisis? The data provides a precise answer — and it is not the one conventional wisdom offers.</a:t>
            </a:r>
          </a:p>
        </p:txBody>
      </p:sp>
      <p:grpSp>
        <p:nvGrpSpPr>
          <p:cNvPr id="39" name="Group 38">
            <a:extLst>
              <a:ext uri="{FF2B5EF4-FFF2-40B4-BE49-F238E27FC236}">
                <a16:creationId xmlns:a16="http://schemas.microsoft.com/office/drawing/2014/main" id="{0CAAA34E-74DE-2234-EBD8-2B5E1ABEDE63}"/>
              </a:ext>
            </a:extLst>
          </p:cNvPr>
          <p:cNvGrpSpPr/>
          <p:nvPr/>
        </p:nvGrpSpPr>
        <p:grpSpPr>
          <a:xfrm>
            <a:off x="97179" y="2070012"/>
            <a:ext cx="2376000" cy="4320000"/>
            <a:chOff x="627202" y="2286001"/>
            <a:chExt cx="6137693" cy="1762304"/>
          </a:xfrm>
        </p:grpSpPr>
        <p:grpSp>
          <p:nvGrpSpPr>
            <p:cNvPr id="34" name="Group 33">
              <a:extLst>
                <a:ext uri="{FF2B5EF4-FFF2-40B4-BE49-F238E27FC236}">
                  <a16:creationId xmlns:a16="http://schemas.microsoft.com/office/drawing/2014/main" id="{748A65CC-A147-2498-DECD-4A48AC4DE71E}"/>
                </a:ext>
              </a:extLst>
            </p:cNvPr>
            <p:cNvGrpSpPr/>
            <p:nvPr/>
          </p:nvGrpSpPr>
          <p:grpSpPr>
            <a:xfrm>
              <a:off x="706995" y="2286001"/>
              <a:ext cx="6057900" cy="1762304"/>
              <a:chOff x="74141" y="2076450"/>
              <a:chExt cx="7397578" cy="3152776"/>
            </a:xfrm>
          </p:grpSpPr>
          <p:sp>
            <p:nvSpPr>
              <p:cNvPr id="31" name="Rectangle 30">
                <a:extLst>
                  <a:ext uri="{FF2B5EF4-FFF2-40B4-BE49-F238E27FC236}">
                    <a16:creationId xmlns:a16="http://schemas.microsoft.com/office/drawing/2014/main" id="{126DEAF9-7E95-D291-BED6-83FEC8668237}"/>
                  </a:ext>
                </a:extLst>
              </p:cNvPr>
              <p:cNvSpPr/>
              <p:nvPr/>
            </p:nvSpPr>
            <p:spPr>
              <a:xfrm>
                <a:off x="74141" y="2095500"/>
                <a:ext cx="7397578" cy="3133726"/>
              </a:xfrm>
              <a:prstGeom prst="rect">
                <a:avLst/>
              </a:prstGeom>
              <a:solidFill>
                <a:srgbClr val="F5F5F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A6D90D10-FCBF-6725-3F53-AACBCDDDF5F7}"/>
                  </a:ext>
                </a:extLst>
              </p:cNvPr>
              <p:cNvSpPr/>
              <p:nvPr/>
            </p:nvSpPr>
            <p:spPr>
              <a:xfrm>
                <a:off x="74141" y="2076450"/>
                <a:ext cx="7397578" cy="561975"/>
              </a:xfrm>
              <a:prstGeom prst="rect">
                <a:avLst/>
              </a:prstGeom>
              <a:solidFill>
                <a:srgbClr val="142135"/>
              </a:solid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5" name="TextBox 34">
              <a:extLst>
                <a:ext uri="{FF2B5EF4-FFF2-40B4-BE49-F238E27FC236}">
                  <a16:creationId xmlns:a16="http://schemas.microsoft.com/office/drawing/2014/main" id="{ED1ECCC5-C32D-68AB-48AB-B1A9C00EF8B4}"/>
                </a:ext>
              </a:extLst>
            </p:cNvPr>
            <p:cNvSpPr txBox="1"/>
            <p:nvPr/>
          </p:nvSpPr>
          <p:spPr>
            <a:xfrm>
              <a:off x="733423" y="2295525"/>
              <a:ext cx="6031469" cy="263665"/>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STRUCTURAL SHIFT 1</a:t>
              </a:r>
            </a:p>
          </p:txBody>
        </p:sp>
        <p:sp>
          <p:nvSpPr>
            <p:cNvPr id="36" name="TextBox 35">
              <a:extLst>
                <a:ext uri="{FF2B5EF4-FFF2-40B4-BE49-F238E27FC236}">
                  <a16:creationId xmlns:a16="http://schemas.microsoft.com/office/drawing/2014/main" id="{3DA7656D-1254-4EC7-2072-5898CABB797E}"/>
                </a:ext>
              </a:extLst>
            </p:cNvPr>
            <p:cNvSpPr txBox="1"/>
            <p:nvPr/>
          </p:nvSpPr>
          <p:spPr>
            <a:xfrm>
              <a:off x="627202" y="2618214"/>
              <a:ext cx="6057901" cy="995447"/>
            </a:xfrm>
            <a:prstGeom prst="rect">
              <a:avLst/>
            </a:prstGeom>
            <a:noFill/>
          </p:spPr>
          <p:txBody>
            <a:bodyPr wrap="square" rtlCol="0">
              <a:spAutoFit/>
            </a:bodyPr>
            <a:lstStyle/>
            <a:p>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Central Bank Buying Changed Gold's Floor Permanently</a:t>
              </a:r>
              <a:b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 Before 2020, central bank demand was a marginal force. After Russia's reserves were frozen in 2022, it became the dominant structural driver. China, India, Turkey, and Poland have bought gold consistently regardless of price, rate, or dollar strength. This created a price floor that rose every single era in this study — and which no traditional macro model predicted or can fully explain.</a:t>
              </a:r>
            </a:p>
          </p:txBody>
        </p:sp>
      </p:grpSp>
      <p:grpSp>
        <p:nvGrpSpPr>
          <p:cNvPr id="40" name="Group 39">
            <a:extLst>
              <a:ext uri="{FF2B5EF4-FFF2-40B4-BE49-F238E27FC236}">
                <a16:creationId xmlns:a16="http://schemas.microsoft.com/office/drawing/2014/main" id="{CD660F59-9EA0-C6B7-2DAC-FF1C4FBD7077}"/>
              </a:ext>
            </a:extLst>
          </p:cNvPr>
          <p:cNvGrpSpPr/>
          <p:nvPr/>
        </p:nvGrpSpPr>
        <p:grpSpPr>
          <a:xfrm>
            <a:off x="2677890" y="2070012"/>
            <a:ext cx="2440514" cy="4321096"/>
            <a:chOff x="706995" y="2286001"/>
            <a:chExt cx="6360513" cy="1762751"/>
          </a:xfrm>
        </p:grpSpPr>
        <p:grpSp>
          <p:nvGrpSpPr>
            <p:cNvPr id="41" name="Group 40">
              <a:extLst>
                <a:ext uri="{FF2B5EF4-FFF2-40B4-BE49-F238E27FC236}">
                  <a16:creationId xmlns:a16="http://schemas.microsoft.com/office/drawing/2014/main" id="{D0942411-16C5-A505-3A06-924114A0C523}"/>
                </a:ext>
              </a:extLst>
            </p:cNvPr>
            <p:cNvGrpSpPr/>
            <p:nvPr/>
          </p:nvGrpSpPr>
          <p:grpSpPr>
            <a:xfrm>
              <a:off x="706995" y="2286001"/>
              <a:ext cx="6057900" cy="1762304"/>
              <a:chOff x="74141" y="2076450"/>
              <a:chExt cx="7397578" cy="3152776"/>
            </a:xfrm>
          </p:grpSpPr>
          <p:sp>
            <p:nvSpPr>
              <p:cNvPr id="44" name="Rectangle 43">
                <a:extLst>
                  <a:ext uri="{FF2B5EF4-FFF2-40B4-BE49-F238E27FC236}">
                    <a16:creationId xmlns:a16="http://schemas.microsoft.com/office/drawing/2014/main" id="{40686459-F895-1445-7A15-2F49EC91B686}"/>
                  </a:ext>
                </a:extLst>
              </p:cNvPr>
              <p:cNvSpPr/>
              <p:nvPr/>
            </p:nvSpPr>
            <p:spPr>
              <a:xfrm>
                <a:off x="74141" y="2095500"/>
                <a:ext cx="7397578" cy="3133726"/>
              </a:xfrm>
              <a:prstGeom prst="rect">
                <a:avLst/>
              </a:prstGeom>
              <a:solidFill>
                <a:srgbClr val="F5F5F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F88F511F-3DB9-E481-BD69-4DD79F0C8167}"/>
                  </a:ext>
                </a:extLst>
              </p:cNvPr>
              <p:cNvSpPr/>
              <p:nvPr/>
            </p:nvSpPr>
            <p:spPr>
              <a:xfrm>
                <a:off x="74141" y="2076450"/>
                <a:ext cx="7397578" cy="561975"/>
              </a:xfrm>
              <a:prstGeom prst="rect">
                <a:avLst/>
              </a:prstGeom>
              <a:solidFill>
                <a:srgbClr val="142135"/>
              </a:solid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2" name="TextBox 41">
              <a:extLst>
                <a:ext uri="{FF2B5EF4-FFF2-40B4-BE49-F238E27FC236}">
                  <a16:creationId xmlns:a16="http://schemas.microsoft.com/office/drawing/2014/main" id="{16AEF189-7A22-049D-FF76-214AD1D24445}"/>
                </a:ext>
              </a:extLst>
            </p:cNvPr>
            <p:cNvSpPr txBox="1"/>
            <p:nvPr/>
          </p:nvSpPr>
          <p:spPr>
            <a:xfrm>
              <a:off x="733423" y="2295525"/>
              <a:ext cx="6165948" cy="155288"/>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STRUCTURAL SHIFT 2</a:t>
              </a:r>
            </a:p>
          </p:txBody>
        </p:sp>
        <p:sp>
          <p:nvSpPr>
            <p:cNvPr id="43" name="TextBox 42">
              <a:extLst>
                <a:ext uri="{FF2B5EF4-FFF2-40B4-BE49-F238E27FC236}">
                  <a16:creationId xmlns:a16="http://schemas.microsoft.com/office/drawing/2014/main" id="{9F3FCA7F-CA04-B85E-BA56-5A81CD977D02}"/>
                </a:ext>
              </a:extLst>
            </p:cNvPr>
            <p:cNvSpPr txBox="1"/>
            <p:nvPr/>
          </p:nvSpPr>
          <p:spPr>
            <a:xfrm>
              <a:off x="733427" y="2611152"/>
              <a:ext cx="6334081" cy="1437600"/>
            </a:xfrm>
            <a:prstGeom prst="rect">
              <a:avLst/>
            </a:prstGeom>
            <a:noFill/>
          </p:spPr>
          <p:txBody>
            <a:bodyPr wrap="square" rtlCol="0">
              <a:spAutoFit/>
            </a:bodyPr>
            <a:lstStyle/>
            <a:p>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Inflation Expectations Replaced Real Rates as Gold's Primary Lever</a:t>
              </a:r>
              <a:b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For decades, real interest rates were gold's master variable. This study's regression confirms that the relationship has been displaced- inflation expectations now carry a coefficient of $1,063 per percentage point, nearly six times larger than the real rate coefficient. Gold today is primarily an inflation hedge, not a rate-sensitivity trade. The Iranian oil shock raised inflation expectations, which should have lifted gold, but the Fed's hawkish response capped those expectations and strengthened the dollar instead.</a:t>
              </a:r>
            </a:p>
          </p:txBody>
        </p:sp>
      </p:grpSp>
      <p:grpSp>
        <p:nvGrpSpPr>
          <p:cNvPr id="46" name="Group 45">
            <a:extLst>
              <a:ext uri="{FF2B5EF4-FFF2-40B4-BE49-F238E27FC236}">
                <a16:creationId xmlns:a16="http://schemas.microsoft.com/office/drawing/2014/main" id="{695EBF22-8743-3CED-9FD2-6052D3240BE8}"/>
              </a:ext>
            </a:extLst>
          </p:cNvPr>
          <p:cNvGrpSpPr/>
          <p:nvPr/>
        </p:nvGrpSpPr>
        <p:grpSpPr>
          <a:xfrm>
            <a:off x="5096328" y="2084547"/>
            <a:ext cx="2376000" cy="4320000"/>
            <a:chOff x="564019" y="2285124"/>
            <a:chExt cx="6413857" cy="1751656"/>
          </a:xfrm>
        </p:grpSpPr>
        <p:grpSp>
          <p:nvGrpSpPr>
            <p:cNvPr id="47" name="Group 46">
              <a:extLst>
                <a:ext uri="{FF2B5EF4-FFF2-40B4-BE49-F238E27FC236}">
                  <a16:creationId xmlns:a16="http://schemas.microsoft.com/office/drawing/2014/main" id="{9F362F78-DFB8-E0EB-AAA2-1ECCC33C6FB8}"/>
                </a:ext>
              </a:extLst>
            </p:cNvPr>
            <p:cNvGrpSpPr/>
            <p:nvPr/>
          </p:nvGrpSpPr>
          <p:grpSpPr>
            <a:xfrm>
              <a:off x="706995" y="2285124"/>
              <a:ext cx="6057900" cy="1751656"/>
              <a:chOff x="74141" y="2074881"/>
              <a:chExt cx="7397578" cy="3133727"/>
            </a:xfrm>
          </p:grpSpPr>
          <p:sp>
            <p:nvSpPr>
              <p:cNvPr id="50" name="Rectangle 49">
                <a:extLst>
                  <a:ext uri="{FF2B5EF4-FFF2-40B4-BE49-F238E27FC236}">
                    <a16:creationId xmlns:a16="http://schemas.microsoft.com/office/drawing/2014/main" id="{2CCF3BB4-0375-9E92-B559-E1EEC53C84B5}"/>
                  </a:ext>
                </a:extLst>
              </p:cNvPr>
              <p:cNvSpPr/>
              <p:nvPr/>
            </p:nvSpPr>
            <p:spPr>
              <a:xfrm>
                <a:off x="74141" y="2074881"/>
                <a:ext cx="7397578" cy="3133727"/>
              </a:xfrm>
              <a:prstGeom prst="rect">
                <a:avLst/>
              </a:prstGeom>
              <a:solidFill>
                <a:srgbClr val="F5F5F5">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ectangle 50">
                <a:extLst>
                  <a:ext uri="{FF2B5EF4-FFF2-40B4-BE49-F238E27FC236}">
                    <a16:creationId xmlns:a16="http://schemas.microsoft.com/office/drawing/2014/main" id="{152FA287-241D-5B7A-FC8E-A0D6D48BC9D2}"/>
                  </a:ext>
                </a:extLst>
              </p:cNvPr>
              <p:cNvSpPr/>
              <p:nvPr/>
            </p:nvSpPr>
            <p:spPr>
              <a:xfrm>
                <a:off x="74141" y="2076450"/>
                <a:ext cx="7397578" cy="561975"/>
              </a:xfrm>
              <a:prstGeom prst="rect">
                <a:avLst/>
              </a:prstGeom>
              <a:solidFill>
                <a:srgbClr val="142135"/>
              </a:solidFill>
              <a:ln w="222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48" name="TextBox 47">
              <a:extLst>
                <a:ext uri="{FF2B5EF4-FFF2-40B4-BE49-F238E27FC236}">
                  <a16:creationId xmlns:a16="http://schemas.microsoft.com/office/drawing/2014/main" id="{16C149DB-1EF5-854E-3A6F-8013B4B34126}"/>
                </a:ext>
              </a:extLst>
            </p:cNvPr>
            <p:cNvSpPr txBox="1"/>
            <p:nvPr/>
          </p:nvSpPr>
          <p:spPr>
            <a:xfrm>
              <a:off x="564019" y="2295525"/>
              <a:ext cx="6413857" cy="140798"/>
            </a:xfrm>
            <a:prstGeom prst="rect">
              <a:avLst/>
            </a:prstGeom>
            <a:noFill/>
          </p:spPr>
          <p:txBody>
            <a:bodyPr wrap="square" rtlCol="0">
              <a:spAutoFit/>
            </a:bodyPr>
            <a:lstStyle/>
            <a:p>
              <a:r>
                <a:rPr lang="en-IN" b="1"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STRUCTURAL SHIFT 3</a:t>
              </a:r>
            </a:p>
          </p:txBody>
        </p:sp>
        <p:sp>
          <p:nvSpPr>
            <p:cNvPr id="49" name="TextBox 48">
              <a:extLst>
                <a:ext uri="{FF2B5EF4-FFF2-40B4-BE49-F238E27FC236}">
                  <a16:creationId xmlns:a16="http://schemas.microsoft.com/office/drawing/2014/main" id="{D18A4399-1D51-FC96-389B-DF5A6E495591}"/>
                </a:ext>
              </a:extLst>
            </p:cNvPr>
            <p:cNvSpPr txBox="1"/>
            <p:nvPr/>
          </p:nvSpPr>
          <p:spPr>
            <a:xfrm>
              <a:off x="658133" y="2597517"/>
              <a:ext cx="6057900" cy="1208517"/>
            </a:xfrm>
            <a:prstGeom prst="rect">
              <a:avLst/>
            </a:prstGeom>
            <a:noFill/>
          </p:spPr>
          <p:txBody>
            <a:bodyPr wrap="square" rtlCol="0">
              <a:spAutoFit/>
            </a:bodyPr>
            <a:lstStyle/>
            <a:p>
              <a:r>
                <a:rPr lang="en-IN" sz="12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Oil and Gold Have Decoupled — The Iran Conflict Proves It</a:t>
              </a:r>
              <a:br>
                <a:rPr lang="en-IN" sz="12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br>
              <a:r>
                <a:rPr lang="en-IN" sz="1100"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Oil and gold carried a positive correlation of +0.50 in Era 1. By Era 4 that correlation had flipped to −0.49. The Iran conflict oil shock hurt gold — not directly, but through the chain reaction it triggered: oil drove inflation fears, which kept the Fed hawkish, which kept rates high, which kept the dollar strong, which suppressed gold. Understanding this transmission mechanism is the difference between reading the conflict correctly and misreading it entirely.</a:t>
              </a:r>
            </a:p>
          </p:txBody>
        </p:sp>
      </p:grpSp>
      <p:sp>
        <p:nvSpPr>
          <p:cNvPr id="52" name="TextBox 51">
            <a:extLst>
              <a:ext uri="{FF2B5EF4-FFF2-40B4-BE49-F238E27FC236}">
                <a16:creationId xmlns:a16="http://schemas.microsoft.com/office/drawing/2014/main" id="{E0528928-D904-4045-E5AA-18F23DE6C6C0}"/>
              </a:ext>
            </a:extLst>
          </p:cNvPr>
          <p:cNvSpPr txBox="1"/>
          <p:nvPr/>
        </p:nvSpPr>
        <p:spPr>
          <a:xfrm>
            <a:off x="121891" y="6520313"/>
            <a:ext cx="7258435" cy="1538883"/>
          </a:xfrm>
          <a:prstGeom prst="rect">
            <a:avLst/>
          </a:prstGeom>
          <a:noFill/>
        </p:spPr>
        <p:txBody>
          <a:bodyPr wrap="square" rtlCol="0">
            <a:spAutoFit/>
          </a:bodyPr>
          <a:lstStyle/>
          <a:p>
            <a:r>
              <a:rPr lang="en-IN" sz="13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rPr>
              <a:t>THE DATA'S VERDICT</a:t>
            </a:r>
          </a:p>
          <a:p>
            <a:r>
              <a:rPr lang="en-IN" sz="1100" dirty="0">
                <a:solidFill>
                  <a:srgbClr val="555555"/>
                </a:solidFill>
                <a:latin typeface="Sans Serif Collection" panose="020B0502040504020204" pitchFamily="34" charset="0"/>
                <a:ea typeface="Sans Serif Collection" panose="020B0502040504020204" pitchFamily="34" charset="0"/>
                <a:cs typeface="Sans Serif Collection" panose="020B0502040504020204" pitchFamily="34" charset="0"/>
              </a:rPr>
              <a:t>Gold did not fall because the conflict was irrelevant to markets. Gold rose 10.6 percent in January 2026 precisely because of the conflict. It then fell because the oil shock that conflict triggered activated a chain reaction — through inflation expectations, Federal Reserve hawkishness, and dollar strength — that overwhelmed the initial safe-haven bid. The conflict is simultaneously gold's biggest supporter and its biggest headwind in 2026. Which force dominates in the second half of 2026 depends on one question: does the Fed pivot before the structural central bank bid exhausts itself at lower prices?</a:t>
            </a:r>
          </a:p>
          <a:p>
            <a:endParaRPr lang="en-IN" sz="1400" b="1" dirty="0">
              <a:solidFill>
                <a:srgbClr val="142135"/>
              </a:solidFill>
              <a:latin typeface="Sans Serif Collection" panose="020B0502040504020204" pitchFamily="34" charset="0"/>
              <a:ea typeface="Sans Serif Collection" panose="020B0502040504020204" pitchFamily="34" charset="0"/>
              <a:cs typeface="Sans Serif Collection" panose="020B0502040504020204" pitchFamily="34" charset="0"/>
            </a:endParaRPr>
          </a:p>
        </p:txBody>
      </p:sp>
      <p:sp>
        <p:nvSpPr>
          <p:cNvPr id="53" name="TextBox 52">
            <a:extLst>
              <a:ext uri="{FF2B5EF4-FFF2-40B4-BE49-F238E27FC236}">
                <a16:creationId xmlns:a16="http://schemas.microsoft.com/office/drawing/2014/main" id="{2A47260C-72E0-121D-0CE2-7739BADF911B}"/>
              </a:ext>
            </a:extLst>
          </p:cNvPr>
          <p:cNvSpPr txBox="1"/>
          <p:nvPr/>
        </p:nvSpPr>
        <p:spPr>
          <a:xfrm>
            <a:off x="0" y="7794172"/>
            <a:ext cx="7559675" cy="830997"/>
          </a:xfrm>
          <a:prstGeom prst="rect">
            <a:avLst/>
          </a:prstGeom>
          <a:solidFill>
            <a:srgbClr val="142135"/>
          </a:solidFill>
        </p:spPr>
        <p:txBody>
          <a:bodyPr wrap="square" rtlCol="0">
            <a:spAutoFit/>
          </a:bodyPr>
          <a:lstStyle/>
          <a:p>
            <a:r>
              <a:rPr lang="en-IN" sz="1200" dirty="0">
                <a:solidFill>
                  <a:schemeClr val="bg1"/>
                </a:solidFill>
                <a:latin typeface="Sans Serif Collection" panose="020B0502040504020204" pitchFamily="34" charset="0"/>
                <a:ea typeface="Sans Serif Collection" panose="020B0502040504020204" pitchFamily="34" charset="0"/>
                <a:cs typeface="Sans Serif Collection" panose="020B0502040504020204" pitchFamily="34" charset="0"/>
              </a:rPr>
              <a:t>OUTLOOK: Goldman Sachs target $4,900 by Q4 2026. JP Morgan target $5,000. Both forecasts rest on Fed rate cuts reducing real yields and dollar pressure. Upside risk: faster-than-expected pivot. Downside risk: Iran conflict resolution reducing safe-haven demand before CB buying reasserts at lower prices.</a:t>
            </a:r>
          </a:p>
        </p:txBody>
      </p:sp>
      <p:sp>
        <p:nvSpPr>
          <p:cNvPr id="54" name="TextBox 53">
            <a:extLst>
              <a:ext uri="{FF2B5EF4-FFF2-40B4-BE49-F238E27FC236}">
                <a16:creationId xmlns:a16="http://schemas.microsoft.com/office/drawing/2014/main" id="{0A483DB6-DF59-BC43-1A55-89C4E4D10572}"/>
              </a:ext>
            </a:extLst>
          </p:cNvPr>
          <p:cNvSpPr txBox="1"/>
          <p:nvPr/>
        </p:nvSpPr>
        <p:spPr>
          <a:xfrm>
            <a:off x="74141" y="8955315"/>
            <a:ext cx="7397578" cy="830997"/>
          </a:xfrm>
          <a:prstGeom prst="rect">
            <a:avLst/>
          </a:prstGeom>
          <a:noFill/>
        </p:spPr>
        <p:txBody>
          <a:bodyPr wrap="square" rtlCol="0">
            <a:spAutoFit/>
          </a:bodyPr>
          <a:lstStyle/>
          <a:p>
            <a:r>
              <a:rPr lang="en-IN" sz="120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This report is independently produced by </a:t>
            </a:r>
            <a:r>
              <a:rPr lang="en-IN" sz="1200" b="1"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Satya Narayan Sahoo </a:t>
            </a:r>
            <a:r>
              <a:rPr lang="en-IN" sz="120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as an original statistical analysis. All data sourced from publicly available databases. Statistical analysis conducted in Microsoft Excel with Data Analysis </a:t>
            </a:r>
            <a:r>
              <a:rPr lang="en-IN" sz="1200" i="1" dirty="0" err="1">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ToolPak</a:t>
            </a:r>
            <a:r>
              <a:rPr lang="en-IN" sz="1200" i="1" dirty="0">
                <a:solidFill>
                  <a:srgbClr val="888888"/>
                </a:solidFill>
                <a:latin typeface="Sans Serif Collection" panose="020B0502040504020204" pitchFamily="34" charset="0"/>
                <a:ea typeface="Sans Serif Collection" panose="020B0502040504020204" pitchFamily="34" charset="0"/>
                <a:cs typeface="Sans Serif Collection" panose="020B0502040504020204" pitchFamily="34" charset="0"/>
              </a:rPr>
              <a:t>. Visualisations built in Tableau Public. This report does not constitute investment advice.</a:t>
            </a:r>
          </a:p>
        </p:txBody>
      </p:sp>
    </p:spTree>
    <p:extLst>
      <p:ext uri="{BB962C8B-B14F-4D97-AF65-F5344CB8AC3E}">
        <p14:creationId xmlns:p14="http://schemas.microsoft.com/office/powerpoint/2010/main" val="35166961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2112</TotalTime>
  <Words>4407</Words>
  <Application>Microsoft Office PowerPoint</Application>
  <PresentationFormat>Custom</PresentationFormat>
  <Paragraphs>120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Sans Serif Collection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satya narayan sahoo</dc:creator>
  <cp:lastModifiedBy>satya narayan sahoo</cp:lastModifiedBy>
  <cp:revision>15</cp:revision>
  <dcterms:created xsi:type="dcterms:W3CDTF">2026-06-27T11:41:09Z</dcterms:created>
  <dcterms:modified xsi:type="dcterms:W3CDTF">2026-07-10T06:57:31Z</dcterms:modified>
</cp:coreProperties>
</file>